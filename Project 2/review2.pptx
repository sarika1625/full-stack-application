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3.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6" r:id="rId12"/>
    <p:sldId id="269" r:id="rId13"/>
    <p:sldId id="267" r:id="rId14"/>
    <p:sldId id="274" r:id="rId15"/>
    <p:sldId id="268" r:id="rId16"/>
    <p:sldId id="271" r:id="rId17"/>
    <p:sldId id="275" r:id="rId18"/>
    <p:sldId id="272" r:id="rId19"/>
    <p:sldId id="273" r:id="rId20"/>
    <p:sldId id="270" r:id="rId21"/>
    <p:sldId id="265" r:id="rId22"/>
  </p:sldIdLst>
  <p:sldSz cx="18288000" cy="10287000"/>
  <p:notesSz cx="6858000" cy="9144000"/>
  <p:embeddedFontLst>
    <p:embeddedFont>
      <p:font typeface="Cambria" panose="02040503050406030204" pitchFamily="18" charset="0"/>
      <p:regular r:id="rId26"/>
      <p:bold r:id="rId27"/>
      <p:italic r:id="rId28"/>
      <p:boldItalic r:id="rId29"/>
    </p:embeddedFont>
    <p:embeddedFont>
      <p:font typeface="Bookman Old Style" panose="02050604050505020204" pitchFamily="18" charset="0"/>
      <p:regular r:id="rId30"/>
      <p:bold r:id="rId31"/>
      <p:italic r:id="rId32"/>
    </p:embeddedFont>
    <p:embeddedFont>
      <p:font typeface="Gotham"/>
      <p:regular r:id="rId33"/>
    </p:embeddedFont>
    <p:embeddedFont>
      <p:font typeface="Calibri" panose="020F0502020204030204" charset="0"/>
      <p:regular r:id="rId34"/>
      <p:bold r:id="rId35"/>
      <p:italic r:id="rId36"/>
      <p:boldItalic r:id="rId37"/>
    </p:embeddedFont>
    <p:embeddedFont>
      <p:font typeface="Gotham Bold Italics" panose="02000000000000000000"/>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55" d="100"/>
          <a:sy n="55" d="100"/>
        </p:scale>
        <p:origin x="65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font" Target="fonts/font13.fntdata"/><Relationship Id="rId37" Type="http://schemas.openxmlformats.org/officeDocument/2006/relationships/font" Target="fonts/font12.fntdata"/><Relationship Id="rId36" Type="http://schemas.openxmlformats.org/officeDocument/2006/relationships/font" Target="fonts/font11.fntdata"/><Relationship Id="rId35" Type="http://schemas.openxmlformats.org/officeDocument/2006/relationships/font" Target="fonts/font10.fntdata"/><Relationship Id="rId34" Type="http://schemas.openxmlformats.org/officeDocument/2006/relationships/font" Target="fonts/font9.fntdata"/><Relationship Id="rId33" Type="http://schemas.openxmlformats.org/officeDocument/2006/relationships/font" Target="fonts/font8.fntdata"/><Relationship Id="rId32" Type="http://schemas.openxmlformats.org/officeDocument/2006/relationships/font" Target="fonts/font7.fntdata"/><Relationship Id="rId31" Type="http://schemas.openxmlformats.org/officeDocument/2006/relationships/font" Target="fonts/font6.fntdata"/><Relationship Id="rId30" Type="http://schemas.openxmlformats.org/officeDocument/2006/relationships/font" Target="fonts/font5.fntdata"/><Relationship Id="rId3" Type="http://schemas.openxmlformats.org/officeDocument/2006/relationships/slide" Target="slides/slide1.xml"/><Relationship Id="rId29" Type="http://schemas.openxmlformats.org/officeDocument/2006/relationships/font" Target="fonts/font4.fntdata"/><Relationship Id="rId28" Type="http://schemas.openxmlformats.org/officeDocument/2006/relationships/font" Target="fonts/font3.fntdata"/><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3.sv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3.sv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3.sv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3.sv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image" Target="../media/image3.sv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3.sv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3.sv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6.png"/><Relationship Id="rId2" Type="http://schemas.openxmlformats.org/officeDocument/2006/relationships/image" Target="../media/image3.sv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pic>
        <p:nvPicPr>
          <p:cNvPr id="23" name="Picture 22"/>
          <p:cNvPicPr>
            <a:picLocks noChangeAspect="1"/>
          </p:cNvPicPr>
          <p:nvPr/>
        </p:nvPicPr>
        <p:blipFill>
          <a:blip r:embed="rId1"/>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endParaRPr lang="en-US" sz="3200" b="1" dirty="0">
              <a:latin typeface="Cambria" panose="02040503050406030204" pitchFamily="18" charset="0"/>
              <a:ea typeface="Cambria" panose="02040503050406030204" pitchFamily="18" charset="0"/>
            </a:endParaRPr>
          </a:p>
          <a:p>
            <a:pPr algn="ctr"/>
            <a:r>
              <a:rPr lang="en-US" sz="3600" b="1" dirty="0">
                <a:latin typeface="Cambria" panose="02040503050406030204" pitchFamily="18" charset="0"/>
                <a:ea typeface="Cambria" panose="02040503050406030204" pitchFamily="18" charset="0"/>
              </a:rPr>
              <a:t>School of Computing </a:t>
            </a:r>
            <a:endParaRPr lang="en-US" sz="3600" b="1" dirty="0">
              <a:latin typeface="Cambria" panose="02040503050406030204" pitchFamily="18" charset="0"/>
              <a:ea typeface="Cambria" panose="02040503050406030204" pitchFamily="18" charset="0"/>
            </a:endParaRP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581400" y="3825983"/>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a:t>
            </a:r>
            <a:r>
              <a:rPr lang="en-IN" sz="3600" b="1" dirty="0" smtClean="0">
                <a:solidFill>
                  <a:srgbClr val="C00000"/>
                </a:solidFill>
                <a:latin typeface="Arial" panose="020B0604020202020204" pitchFamily="34" charset="0"/>
                <a:cs typeface="Arial" panose="020B0604020202020204" pitchFamily="34" charset="0"/>
              </a:rPr>
              <a:t>20-04-2026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p:cNvSpPr txBox="1"/>
          <p:nvPr/>
        </p:nvSpPr>
        <p:spPr>
          <a:xfrm>
            <a:off x="1168808" y="5682944"/>
            <a:ext cx="15784162" cy="923330"/>
          </a:xfrm>
          <a:prstGeom prst="rect">
            <a:avLst/>
          </a:prstGeom>
          <a:noFill/>
        </p:spPr>
        <p:txBody>
          <a:bodyPr wrap="square" rtlCol="0">
            <a:spAutoFit/>
          </a:bodyPr>
          <a:lstStyle/>
          <a:p>
            <a:pPr algn="ctr"/>
            <a:r>
              <a:rPr lang="en-US" sz="5400" b="1" dirty="0">
                <a:solidFill>
                  <a:srgbClr val="FF0000"/>
                </a:solidFill>
              </a:rPr>
              <a:t>Job Portal Management System</a:t>
            </a:r>
            <a:endParaRPr lang="en-IN" sz="5400" b="1" dirty="0">
              <a:solidFill>
                <a:srgbClr val="FF0000"/>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38200" y="7818586"/>
            <a:ext cx="9067800" cy="147732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endParaRPr lang="en-US" sz="3000" b="1" dirty="0">
              <a:latin typeface="Cambria" panose="02040503050406030204" pitchFamily="18" charset="0"/>
              <a:ea typeface="Cambria" panose="02040503050406030204" pitchFamily="18" charset="0"/>
            </a:endParaRPr>
          </a:p>
          <a:p>
            <a:pPr>
              <a:lnSpc>
                <a:spcPct val="150000"/>
              </a:lnSpc>
            </a:pPr>
            <a:r>
              <a:rPr lang="en-US" sz="3000" dirty="0" err="1" smtClean="0">
                <a:latin typeface="Cambria" panose="02040503050406030204" pitchFamily="18" charset="0"/>
                <a:ea typeface="Cambria" panose="02040503050406030204" pitchFamily="18" charset="0"/>
              </a:rPr>
              <a:t>S.Sarika</a:t>
            </a:r>
            <a:r>
              <a:rPr lang="en-US" sz="3000" dirty="0" smtClean="0">
                <a:latin typeface="Cambria" panose="02040503050406030204" pitchFamily="18" charset="0"/>
                <a:ea typeface="Cambria" panose="02040503050406030204" pitchFamily="18" charset="0"/>
              </a:rPr>
              <a:t>– VTU26196 </a:t>
            </a:r>
            <a:r>
              <a:rPr lang="en-US" sz="3000" dirty="0">
                <a:latin typeface="Cambria" panose="02040503050406030204" pitchFamily="18" charset="0"/>
                <a:ea typeface="Cambria" panose="02040503050406030204" pitchFamily="18" charset="0"/>
              </a:rPr>
              <a:t>– </a:t>
            </a:r>
            <a:r>
              <a:rPr lang="en-US" sz="3000" dirty="0" err="1">
                <a:latin typeface="Cambria" panose="02040503050406030204" pitchFamily="18" charset="0"/>
                <a:ea typeface="Cambria" panose="02040503050406030204" pitchFamily="18" charset="0"/>
              </a:rPr>
              <a:t>Reg.No</a:t>
            </a:r>
            <a:r>
              <a:rPr lang="en-US" sz="3000" dirty="0" smtClean="0">
                <a:latin typeface="Cambria" panose="02040503050406030204" pitchFamily="18" charset="0"/>
                <a:ea typeface="Cambria" panose="02040503050406030204" pitchFamily="18" charset="0"/>
              </a:rPr>
              <a:t>. 23UECS0499</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945035" y="7818586"/>
            <a:ext cx="6914603" cy="147732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r>
              <a:rPr lang="en-US" sz="3000" b="1" dirty="0" smtClean="0">
                <a:latin typeface="Cambria" panose="02040503050406030204" pitchFamily="18" charset="0"/>
                <a:ea typeface="Cambria" panose="02040503050406030204" pitchFamily="18" charset="0"/>
              </a:rPr>
              <a:t>:</a:t>
            </a:r>
            <a:endParaRPr lang="en-US" sz="3000" b="1" dirty="0" smtClean="0">
              <a:latin typeface="Cambria" panose="02040503050406030204" pitchFamily="18" charset="0"/>
              <a:ea typeface="Cambria" panose="02040503050406030204" pitchFamily="18" charset="0"/>
            </a:endParaRPr>
          </a:p>
          <a:p>
            <a:pPr>
              <a:lnSpc>
                <a:spcPct val="150000"/>
              </a:lnSpc>
            </a:pPr>
            <a:r>
              <a:rPr lang="en-US" sz="3000" dirty="0" smtClean="0">
                <a:latin typeface="Cambria" panose="02040503050406030204" pitchFamily="18" charset="0"/>
                <a:ea typeface="Cambria" panose="02040503050406030204" pitchFamily="18" charset="0"/>
              </a:rPr>
              <a:t>Mr. S Manohar ME., (</a:t>
            </a:r>
            <a:r>
              <a:rPr lang="en-US" sz="3000" dirty="0" err="1">
                <a:latin typeface="Cambria" panose="02040503050406030204" pitchFamily="18" charset="0"/>
                <a:ea typeface="Cambria" panose="02040503050406030204" pitchFamily="18" charset="0"/>
              </a:rPr>
              <a:t>P</a:t>
            </a:r>
            <a:r>
              <a:rPr lang="en-US" sz="3000" dirty="0" err="1" smtClean="0">
                <a:latin typeface="Cambria" panose="02040503050406030204" pitchFamily="18" charset="0"/>
                <a:ea typeface="Cambria" panose="02040503050406030204" pitchFamily="18" charset="0"/>
              </a:rPr>
              <a:t>hd</a:t>
            </a:r>
            <a:r>
              <a:rPr lang="en-US" sz="3000" dirty="0" smtClean="0">
                <a:latin typeface="Cambria" panose="02040503050406030204" pitchFamily="18" charset="0"/>
                <a:ea typeface="Cambria" panose="02040503050406030204" pitchFamily="18" charset="0"/>
              </a:rPr>
              <a:t>)</a:t>
            </a:r>
            <a:endParaRPr lang="en-US"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523220"/>
          </a:xfrm>
          <a:prstGeom prst="rect">
            <a:avLst/>
          </a:prstGeom>
          <a:noFill/>
        </p:spPr>
        <p:txBody>
          <a:bodyPr wrap="square" rtlCol="0">
            <a:spAutoFit/>
          </a:bodyPr>
          <a:lstStyle/>
          <a:p>
            <a:r>
              <a:rPr lang="en-US" sz="2800" b="1" dirty="0" smtClean="0"/>
              <a:t>SDG </a:t>
            </a:r>
            <a:r>
              <a:rPr lang="en-US" sz="2800" b="1" dirty="0"/>
              <a:t>8: Decent Work and Economic Growth</a:t>
            </a:r>
            <a:endParaRPr lang="en-IN" sz="2800" b="1"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endParaRPr lang="en-US" sz="2700">
                <a:solidFill>
                  <a:srgbClr val="FFFEFE"/>
                </a:solidFill>
                <a:latin typeface="Gotham"/>
                <a:ea typeface="Gotham"/>
                <a:cs typeface="Gotham"/>
                <a:sym typeface="Gotham"/>
              </a:endParaRP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1798515" y="2123695"/>
            <a:ext cx="15082325" cy="7848302"/>
          </a:xfrm>
          <a:prstGeom prst="rect">
            <a:avLst/>
          </a:prstGeom>
          <a:noFill/>
        </p:spPr>
        <p:txBody>
          <a:bodyPr wrap="square" rtlCol="0">
            <a:spAutoFit/>
          </a:bodyPr>
          <a:lstStyle/>
          <a:p>
            <a:pPr marL="457200" indent="-457200">
              <a:buFontTx/>
              <a:buChar char="-"/>
            </a:pPr>
            <a:r>
              <a:rPr lang="en-US" sz="2800" dirty="0"/>
              <a:t>A Job Portal Management System is a web-based application designed to connect job seekers and employers efficiently. It allows users to search and apply for jobs based on their skills and interests. Employers can post job vacancies and manage applications in a structured manner. The system provides an easy-to-use interface for both admins and users. It helps automate the recruitment process and reduces manual work. Job seekers can create profiles and upload resumes for better opportunities. Overall, it improves the speed and effectiveness of hiring and job searching.</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endParaRPr lang="en-US" sz="2700">
                <a:solidFill>
                  <a:srgbClr val="FFFEFE"/>
                </a:solidFill>
                <a:latin typeface="Gotham"/>
                <a:ea typeface="Gotham"/>
                <a:cs typeface="Gotham"/>
                <a:sym typeface="Gotham"/>
              </a:endParaRP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003560" y="1982349"/>
            <a:ext cx="14782800" cy="9140964"/>
          </a:xfrm>
          <a:prstGeom prst="rect">
            <a:avLst/>
          </a:prstGeom>
          <a:noFill/>
        </p:spPr>
        <p:txBody>
          <a:bodyPr wrap="square" rtlCol="0">
            <a:spAutoFit/>
          </a:bodyPr>
          <a:lstStyle/>
          <a:p>
            <a:r>
              <a:rPr lang="en-US" sz="2800" dirty="0"/>
              <a:t>In the traditional recruitment process, job seekers and employers face difficulties in connecting efficiently. Job seekers often struggle to find relevant job opportunities in one place. Employers find it time-consuming to manage job postings and filter suitable candidates manually. There is a lack of a centralized platform for smooth interaction between both parties. Manual processes lead to delays and inefficiency in hiring. It is also difficult to track applications and manage resumes effectively. This results in poor communication and reduced hiring productivity. Therefore, a Job Portal Management System is required to automate and simplify the recruitment process.</a:t>
            </a:r>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2" name="TextBox 51"/>
          <p:cNvSpPr txBox="1"/>
          <p:nvPr/>
        </p:nvSpPr>
        <p:spPr>
          <a:xfrm>
            <a:off x="2176975" y="2061406"/>
            <a:ext cx="15082325" cy="4401205"/>
          </a:xfrm>
          <a:prstGeom prst="rect">
            <a:avLst/>
          </a:prstGeom>
          <a:noFill/>
        </p:spPr>
        <p:txBody>
          <a:bodyPr wrap="square" rtlCol="0">
            <a:spAutoFit/>
          </a:bodyPr>
          <a:lstStyle/>
          <a:p>
            <a:pPr marL="457200" indent="-457200">
              <a:buFontTx/>
              <a:buChar char="-"/>
            </a:pPr>
            <a:r>
              <a:rPr lang="en-US" sz="2800" dirty="0"/>
              <a:t>To develop a centralized platform that connects job seekers and employers efficiently.</a:t>
            </a:r>
            <a:br>
              <a:rPr lang="en-US" sz="2800" dirty="0"/>
            </a:br>
            <a:r>
              <a:rPr lang="en-US" sz="2800" dirty="0"/>
              <a:t>It helps users search, apply, and manage job opportunities in an organized way.</a:t>
            </a:r>
            <a:endParaRPr lang="en-US" sz="2800" dirty="0" smtClean="0"/>
          </a:p>
          <a:p>
            <a:pPr marL="457200" indent="-457200">
              <a:buFontTx/>
              <a:buChar char="-"/>
            </a:pPr>
            <a:r>
              <a:rPr lang="en-US" sz="2800" dirty="0"/>
              <a:t>To automate the recruitment process by reducing manual work in job posting and application handling.</a:t>
            </a:r>
            <a:br>
              <a:rPr lang="en-US" sz="2800" dirty="0"/>
            </a:br>
            <a:r>
              <a:rPr lang="en-US" sz="2800" dirty="0"/>
              <a:t>It improves hiring speed, accuracy, and overall communication between users and recruiters.</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endParaRPr lang="en-US" sz="2700">
                <a:solidFill>
                  <a:srgbClr val="FFFEFE"/>
                </a:solidFill>
                <a:latin typeface="Gotham"/>
                <a:ea typeface="Gotham"/>
                <a:cs typeface="Gotham"/>
                <a:sym typeface="Gotham"/>
              </a:endParaRP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176975" y="1714500"/>
            <a:ext cx="15082325" cy="7417415"/>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r>
              <a:rPr lang="en-US" sz="2800" dirty="0"/>
              <a:t>The proposed Job Portal Management System is a web-based application designed to simplify and automate the recruitment process. It provides a centralized platform where job seekers can register, create profiles, upload resumes, and apply for suitable job openings. Employers can post job vacancies, view applications, and manage candidate selection efficiently. The system includes an admin module to monitor and control all activities for smooth functioning. It reduces manual effort and improves communication between job seekers and recruiters. The interface is designed to be user-friendly, making job search and hiring faster and more efficient. Overall, it ensures a more organized, reliable, and time-saving recruitment process.</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514600" y="1660191"/>
            <a:ext cx="24465481"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AutoShape 2" descr="Generated image"/>
          <p:cNvSpPr>
            <a:spLocks noChangeAspect="1" noChangeArrowheads="1"/>
          </p:cNvSpPr>
          <p:nvPr/>
        </p:nvSpPr>
        <p:spPr bwMode="auto">
          <a:xfrm>
            <a:off x="166914" y="-122472"/>
            <a:ext cx="494425" cy="5241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3" name="AutoShape 4" descr="Generated image"/>
          <p:cNvSpPr>
            <a:spLocks noChangeAspect="1" noChangeArrowheads="1"/>
          </p:cNvSpPr>
          <p:nvPr/>
        </p:nvSpPr>
        <p:spPr bwMode="auto">
          <a:xfrm>
            <a:off x="319314" y="29928"/>
            <a:ext cx="494425" cy="5241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4" name="AutoShape 6" descr="Generated image"/>
          <p:cNvSpPr>
            <a:spLocks noChangeAspect="1" noChangeArrowheads="1"/>
          </p:cNvSpPr>
          <p:nvPr/>
        </p:nvSpPr>
        <p:spPr bwMode="auto">
          <a:xfrm>
            <a:off x="471714" y="182328"/>
            <a:ext cx="494425" cy="5241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32" name="AutoShape 8" descr="https://chatgpt.com/backend-api/estuary/content?id=file_000000007a547208914572050d33c129&amp;ts=492376&amp;p=fs&amp;cid=1&amp;sig=4bce448f5eac28bd4988938332e92f34fc7ca6283f87807f40c0cf02122bb822&amp;v=0"/>
          <p:cNvSpPr>
            <a:spLocks noChangeAspect="1" noChangeArrowheads="1"/>
          </p:cNvSpPr>
          <p:nvPr/>
        </p:nvSpPr>
        <p:spPr bwMode="auto">
          <a:xfrm>
            <a:off x="624114" y="334728"/>
            <a:ext cx="494425" cy="5241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33" name="AutoShape 10" descr="https://chatgpt.com/backend-api/estuary/content?id=file_000000007a547208914572050d33c129&amp;ts=492376&amp;p=fs&amp;cid=1&amp;sig=4bce448f5eac28bd4988938332e92f34fc7ca6283f87807f40c0cf02122bb822&amp;v=0"/>
          <p:cNvSpPr>
            <a:spLocks noChangeAspect="1" noChangeArrowheads="1"/>
          </p:cNvSpPr>
          <p:nvPr/>
        </p:nvSpPr>
        <p:spPr bwMode="auto">
          <a:xfrm>
            <a:off x="155575" y="-162785"/>
            <a:ext cx="304800" cy="32312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35" name="Picture 34"/>
          <p:cNvPicPr>
            <a:picLocks noChangeAspect="1"/>
          </p:cNvPicPr>
          <p:nvPr/>
        </p:nvPicPr>
        <p:blipFill>
          <a:blip r:embed="rId3"/>
          <a:stretch>
            <a:fillRect/>
          </a:stretch>
        </p:blipFill>
        <p:spPr>
          <a:xfrm>
            <a:off x="2971800" y="1544351"/>
            <a:ext cx="12268200" cy="7332949"/>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endParaRPr lang="en-US" sz="2700">
                <a:solidFill>
                  <a:srgbClr val="FFFEFE"/>
                </a:solidFill>
                <a:latin typeface="Gotham"/>
                <a:ea typeface="Gotham"/>
                <a:cs typeface="Gotham"/>
                <a:sym typeface="Gotham"/>
              </a:endParaRP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76200" y="440682"/>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3205675" y="142339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tretch>
            <a:fillRect/>
          </a:stretch>
        </p:blipFill>
        <p:spPr>
          <a:xfrm>
            <a:off x="3389419" y="1651508"/>
            <a:ext cx="11580417" cy="708660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endParaRPr lang="en-US" sz="2700">
                <a:solidFill>
                  <a:srgbClr val="FFFEFE"/>
                </a:solidFill>
                <a:latin typeface="Gotham"/>
                <a:ea typeface="Gotham"/>
                <a:cs typeface="Gotham"/>
                <a:sym typeface="Gotham"/>
              </a:endParaRP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1821094" y="1909519"/>
            <a:ext cx="15082325" cy="10433625"/>
          </a:xfrm>
          <a:prstGeom prst="rect">
            <a:avLst/>
          </a:prstGeom>
          <a:noFill/>
        </p:spPr>
        <p:txBody>
          <a:bodyPr wrap="square" rtlCol="0">
            <a:spAutoFit/>
          </a:bodyPr>
          <a:lstStyle/>
          <a:p>
            <a:r>
              <a:rPr lang="en-IN" sz="2800" b="1" dirty="0"/>
              <a:t>Frontend:</a:t>
            </a:r>
            <a:br>
              <a:rPr lang="en-IN" sz="2800" dirty="0"/>
            </a:br>
            <a:r>
              <a:rPr lang="en-IN" sz="2800" dirty="0"/>
              <a:t>HTML, CSS, </a:t>
            </a:r>
            <a:r>
              <a:rPr lang="en-IN" sz="2800" dirty="0" err="1"/>
              <a:t>Thymeleaf</a:t>
            </a:r>
            <a:r>
              <a:rPr lang="en-IN" sz="2800" dirty="0"/>
              <a:t> (User Portal and Admin Portal Interface)</a:t>
            </a:r>
            <a:endParaRPr lang="en-IN" sz="2800" dirty="0"/>
          </a:p>
          <a:p>
            <a:r>
              <a:rPr lang="en-IN" sz="2800" b="1" dirty="0"/>
              <a:t>Backend:</a:t>
            </a:r>
            <a:br>
              <a:rPr lang="en-IN" sz="2800" dirty="0"/>
            </a:br>
            <a:r>
              <a:rPr lang="en-IN" sz="2800" dirty="0"/>
              <a:t>Spring Boot </a:t>
            </a:r>
            <a:r>
              <a:rPr lang="en-IN" sz="2800" dirty="0" smtClean="0"/>
              <a:t>,Java</a:t>
            </a:r>
            <a:r>
              <a:rPr lang="en-IN" sz="2800" dirty="0"/>
              <a:t>, REST Controllers, Service Layer</a:t>
            </a:r>
            <a:endParaRPr lang="en-IN" sz="2800" dirty="0"/>
          </a:p>
          <a:p>
            <a:r>
              <a:rPr lang="en-IN" sz="2800" b="1" dirty="0"/>
              <a:t>Database:</a:t>
            </a:r>
            <a:br>
              <a:rPr lang="en-IN" sz="2800" dirty="0"/>
            </a:br>
            <a:r>
              <a:rPr lang="en-IN" sz="2800" dirty="0"/>
              <a:t>MySQL (Stores Events and Booking Details)</a:t>
            </a:r>
            <a:endParaRPr lang="en-IN" sz="2800" dirty="0"/>
          </a:p>
          <a:p>
            <a:r>
              <a:rPr lang="en-IN" sz="2800" b="1" dirty="0"/>
              <a:t>Tools:</a:t>
            </a:r>
            <a:br>
              <a:rPr lang="en-IN" sz="2800" dirty="0"/>
            </a:br>
            <a:r>
              <a:rPr lang="en-IN" sz="2800" dirty="0"/>
              <a:t>Eclipse IDE ,</a:t>
            </a:r>
            <a:r>
              <a:rPr lang="en-IN" sz="2800" dirty="0" smtClean="0"/>
              <a:t> </a:t>
            </a:r>
            <a:r>
              <a:rPr lang="en-IN" sz="2800" dirty="0"/>
              <a:t>MySQL Workbench, </a:t>
            </a:r>
            <a:r>
              <a:rPr lang="en-IN" sz="2800" dirty="0" smtClean="0"/>
              <a:t>Maven</a:t>
            </a:r>
            <a:endParaRPr lang="en-IN" sz="2800" dirty="0"/>
          </a:p>
          <a:p>
            <a:r>
              <a:rPr lang="en-IN" sz="2800" b="1" dirty="0"/>
              <a:t>Hardware/Software Requirements:</a:t>
            </a:r>
            <a:br>
              <a:rPr lang="en-IN" sz="2800" dirty="0"/>
            </a:br>
            <a:r>
              <a:rPr lang="en-IN" sz="2800" dirty="0"/>
              <a:t>Minimum 8GB RAM, Intel i3 or above, Windows 10/11, JDK 17+, MySQL Server, Web Browser (Chrome/Edge)</a:t>
            </a:r>
            <a:endParaRPr lang="en-IN"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1667664" y="2193716"/>
            <a:ext cx="15082325" cy="1384995"/>
          </a:xfrm>
          <a:prstGeom prst="rect">
            <a:avLst/>
          </a:prstGeom>
          <a:noFill/>
        </p:spPr>
        <p:txBody>
          <a:bodyPr wrap="square" rtlCol="0">
            <a:spAutoFit/>
          </a:bodyPr>
          <a:lstStyle/>
          <a:p>
            <a:r>
              <a:rPr lang="en-US" sz="2800" b="1" dirty="0"/>
              <a:t>Module 1: Admin Portal Management</a:t>
            </a:r>
            <a:br>
              <a:rPr lang="en-US" sz="2800" dirty="0"/>
            </a:br>
            <a:r>
              <a:rPr lang="en-US" sz="2800" dirty="0"/>
              <a:t>Handles admin login, job posting, job editing, job deletion, and overall job listing management by the administrator.</a:t>
            </a:r>
            <a:endParaRPr lang="en-IN" sz="2800" dirty="0"/>
          </a:p>
        </p:txBody>
      </p:sp>
      <p:sp>
        <p:nvSpPr>
          <p:cNvPr id="2" name="Rectangle 1"/>
          <p:cNvSpPr>
            <a:spLocks noChangeArrowheads="1"/>
          </p:cNvSpPr>
          <p:nvPr/>
        </p:nvSpPr>
        <p:spPr bwMode="auto">
          <a:xfrm>
            <a:off x="1724421" y="2557205"/>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smtClean="0">
                <a:ln>
                  <a:noFill/>
                </a:ln>
                <a:solidFill>
                  <a:schemeClr val="tx1"/>
                </a:solidFill>
                <a:effectLst/>
                <a:latin typeface="Arial" panose="020B0604020202020204" pitchFamily="34"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9" name="Rectangle 7"/>
          <p:cNvSpPr>
            <a:spLocks noChangeArrowheads="1"/>
          </p:cNvSpPr>
          <p:nvPr/>
        </p:nvSpPr>
        <p:spPr bwMode="auto">
          <a:xfrm>
            <a:off x="1821094" y="6469227"/>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smtClean="0">
                <a:ln>
                  <a:noFill/>
                </a:ln>
                <a:solidFill>
                  <a:schemeClr val="tx1"/>
                </a:solidFill>
                <a:effectLst/>
                <a:latin typeface="Arial" panose="020B0604020202020204" pitchFamily="34" charset="0"/>
              </a:rPr>
              <a: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0" name="Rectangle 39"/>
          <p:cNvSpPr/>
          <p:nvPr/>
        </p:nvSpPr>
        <p:spPr>
          <a:xfrm>
            <a:off x="1667664" y="3909176"/>
            <a:ext cx="16239336" cy="954107"/>
          </a:xfrm>
          <a:prstGeom prst="rect">
            <a:avLst/>
          </a:prstGeom>
        </p:spPr>
        <p:txBody>
          <a:bodyPr wrap="square">
            <a:spAutoFit/>
          </a:bodyPr>
          <a:lstStyle/>
          <a:p>
            <a:r>
              <a:rPr lang="en-US" sz="2800" b="1" dirty="0"/>
              <a:t>Module 2: User Portal Management</a:t>
            </a:r>
            <a:br>
              <a:rPr lang="en-US" sz="2800" dirty="0"/>
            </a:br>
            <a:r>
              <a:rPr lang="en-US" sz="2800" dirty="0"/>
              <a:t>Allows users to register, login, view available jobs, apply for jobs, and track their application status.</a:t>
            </a:r>
            <a:endParaRPr lang="en-IN" sz="2800" dirty="0"/>
          </a:p>
        </p:txBody>
      </p:sp>
      <p:sp>
        <p:nvSpPr>
          <p:cNvPr id="41" name="Rectangle 40"/>
          <p:cNvSpPr/>
          <p:nvPr/>
        </p:nvSpPr>
        <p:spPr>
          <a:xfrm>
            <a:off x="1773133" y="5125372"/>
            <a:ext cx="14871385" cy="1384995"/>
          </a:xfrm>
          <a:prstGeom prst="rect">
            <a:avLst/>
          </a:prstGeom>
        </p:spPr>
        <p:txBody>
          <a:bodyPr wrap="square">
            <a:spAutoFit/>
          </a:bodyPr>
          <a:lstStyle/>
          <a:p>
            <a:r>
              <a:rPr lang="en-US" sz="2800" b="1" dirty="0"/>
              <a:t>Module 3: Job Application Processing</a:t>
            </a:r>
            <a:br>
              <a:rPr lang="en-US" sz="2800" dirty="0"/>
            </a:br>
            <a:r>
              <a:rPr lang="en-US" sz="2800" dirty="0"/>
              <a:t>Implements application submission, validation of user details, prevention of duplicate applications, and updating application status</a:t>
            </a:r>
            <a:r>
              <a:rPr lang="en-US" dirty="0"/>
              <a:t>.</a:t>
            </a:r>
            <a:endParaRPr lang="en-IN" dirty="0"/>
          </a:p>
        </p:txBody>
      </p:sp>
      <p:sp>
        <p:nvSpPr>
          <p:cNvPr id="42" name="Rectangle 41"/>
          <p:cNvSpPr/>
          <p:nvPr/>
        </p:nvSpPr>
        <p:spPr>
          <a:xfrm>
            <a:off x="1780296" y="6868673"/>
            <a:ext cx="14197280" cy="1384995"/>
          </a:xfrm>
          <a:prstGeom prst="rect">
            <a:avLst/>
          </a:prstGeom>
        </p:spPr>
        <p:txBody>
          <a:bodyPr wrap="square">
            <a:spAutoFit/>
          </a:bodyPr>
          <a:lstStyle/>
          <a:p>
            <a:r>
              <a:rPr lang="en-US" sz="2800" b="1" dirty="0"/>
              <a:t>Module 4: Database Management</a:t>
            </a:r>
            <a:br>
              <a:rPr lang="en-US" sz="2800" dirty="0"/>
            </a:br>
            <a:r>
              <a:rPr lang="en-US" sz="2800" dirty="0"/>
              <a:t>Manages storage and retrieval of admin details, user data, job listings, and job applications, ensuring data consistency and integrity</a:t>
            </a:r>
            <a:r>
              <a:rPr lang="en-US" dirty="0"/>
              <a:t>.</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1271676" y="1149624"/>
            <a:ext cx="15082325" cy="5262979"/>
          </a:xfrm>
          <a:prstGeom prst="rect">
            <a:avLst/>
          </a:prstGeom>
          <a:noFill/>
        </p:spPr>
        <p:txBody>
          <a:bodyPr wrap="square" rtlCol="0">
            <a:spAutoFit/>
          </a:bodyPr>
          <a:lstStyle/>
          <a:p>
            <a:r>
              <a:rPr lang="en-US" sz="2800" dirty="0" smtClean="0"/>
              <a:t>Home</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AutoShape 2" descr="Uploaded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4" name="Rectangle 3"/>
          <p:cNvSpPr/>
          <p:nvPr/>
        </p:nvSpPr>
        <p:spPr>
          <a:xfrm>
            <a:off x="2362200" y="8331865"/>
            <a:ext cx="13076721" cy="800219"/>
          </a:xfrm>
          <a:prstGeom prst="rect">
            <a:avLst/>
          </a:prstGeom>
        </p:spPr>
        <p:txBody>
          <a:bodyPr wrap="square">
            <a:spAutoFit/>
          </a:bodyPr>
          <a:lstStyle/>
          <a:p>
            <a:br>
              <a:rPr lang="en-US" sz="2800" dirty="0"/>
            </a:br>
            <a:endParaRPr lang="en-IN" dirty="0"/>
          </a:p>
        </p:txBody>
      </p:sp>
      <p:pic>
        <p:nvPicPr>
          <p:cNvPr id="5" name="Picture 4"/>
          <p:cNvPicPr>
            <a:picLocks noChangeAspect="1"/>
          </p:cNvPicPr>
          <p:nvPr/>
        </p:nvPicPr>
        <p:blipFill>
          <a:blip r:embed="rId3"/>
          <a:stretch>
            <a:fillRect/>
          </a:stretch>
        </p:blipFill>
        <p:spPr>
          <a:xfrm>
            <a:off x="2437162" y="1752710"/>
            <a:ext cx="14464013" cy="6340389"/>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76200" y="373242"/>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a:t>
            </a:r>
            <a:r>
              <a:rPr lang="en-US" sz="4800" b="1" dirty="0" smtClean="0">
                <a:solidFill>
                  <a:srgbClr val="0033CC"/>
                </a:solidFill>
                <a:latin typeface="Times New Roman" panose="02020603050405020304" pitchFamily="18" charset="0"/>
                <a:cs typeface="Times New Roman" panose="02020603050405020304" pitchFamily="18" charset="0"/>
              </a:rPr>
              <a:t>SCREENSHOTS</a:t>
            </a:r>
            <a:endParaRPr lang="en-US" sz="4800" b="1" dirty="0" smtClean="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427996" y="4527178"/>
            <a:ext cx="15082325" cy="4832092"/>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endParaRPr lang="en-US" sz="2800" dirty="0"/>
          </a:p>
        </p:txBody>
      </p:sp>
      <p:sp>
        <p:nvSpPr>
          <p:cNvPr id="3" name="Rectangle 2"/>
          <p:cNvSpPr/>
          <p:nvPr/>
        </p:nvSpPr>
        <p:spPr>
          <a:xfrm>
            <a:off x="1757080" y="1098593"/>
            <a:ext cx="1863011" cy="523220"/>
          </a:xfrm>
          <a:prstGeom prst="rect">
            <a:avLst/>
          </a:prstGeom>
        </p:spPr>
        <p:txBody>
          <a:bodyPr wrap="none">
            <a:spAutoFit/>
          </a:bodyPr>
          <a:lstStyle/>
          <a:p>
            <a:r>
              <a:rPr lang="en-IN" sz="2800" dirty="0" smtClean="0"/>
              <a:t>Admit </a:t>
            </a:r>
            <a:r>
              <a:rPr lang="en-IN" sz="2800" dirty="0"/>
              <a:t>login</a:t>
            </a:r>
            <a:endParaRPr lang="en-IN" sz="2800" dirty="0"/>
          </a:p>
        </p:txBody>
      </p:sp>
      <p:sp>
        <p:nvSpPr>
          <p:cNvPr id="5" name="Rectangle 4"/>
          <p:cNvSpPr/>
          <p:nvPr/>
        </p:nvSpPr>
        <p:spPr>
          <a:xfrm>
            <a:off x="2516625" y="8037106"/>
            <a:ext cx="14875161" cy="738664"/>
          </a:xfrm>
          <a:prstGeom prst="rect">
            <a:avLst/>
          </a:prstGeom>
        </p:spPr>
        <p:txBody>
          <a:bodyPr wrap="square">
            <a:spAutoFit/>
          </a:bodyPr>
          <a:lstStyle/>
          <a:p>
            <a:r>
              <a:rPr lang="en-US" sz="2400" dirty="0"/>
              <a:t>This page allows the administrator to securely log in using a username and password.</a:t>
            </a:r>
            <a:br>
              <a:rPr lang="en-US" sz="2400" dirty="0"/>
            </a:br>
            <a:endParaRPr lang="en-IN" dirty="0"/>
          </a:p>
        </p:txBody>
      </p:sp>
      <p:pic>
        <p:nvPicPr>
          <p:cNvPr id="38" name="Picture 37"/>
          <p:cNvPicPr>
            <a:picLocks noChangeAspect="1"/>
          </p:cNvPicPr>
          <p:nvPr/>
        </p:nvPicPr>
        <p:blipFill>
          <a:blip r:embed="rId3"/>
          <a:stretch>
            <a:fillRect/>
          </a:stretch>
        </p:blipFill>
        <p:spPr>
          <a:xfrm>
            <a:off x="2585301" y="2171700"/>
            <a:ext cx="4998255" cy="5153772"/>
          </a:xfrm>
          <a:prstGeom prst="rect">
            <a:avLst/>
          </a:prstGeom>
        </p:spPr>
      </p:pic>
      <p:pic>
        <p:nvPicPr>
          <p:cNvPr id="39" name="Picture 38"/>
          <p:cNvPicPr>
            <a:picLocks noChangeAspect="1"/>
          </p:cNvPicPr>
          <p:nvPr/>
        </p:nvPicPr>
        <p:blipFill>
          <a:blip r:embed="rId4"/>
          <a:stretch>
            <a:fillRect/>
          </a:stretch>
        </p:blipFill>
        <p:spPr>
          <a:xfrm>
            <a:off x="11073014" y="2171700"/>
            <a:ext cx="5066930" cy="5080061"/>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Rectangle 2"/>
          <p:cNvSpPr/>
          <p:nvPr/>
        </p:nvSpPr>
        <p:spPr>
          <a:xfrm>
            <a:off x="2006735" y="8304651"/>
            <a:ext cx="13258800" cy="1231106"/>
          </a:xfrm>
          <a:prstGeom prst="rect">
            <a:avLst/>
          </a:prstGeom>
        </p:spPr>
        <p:txBody>
          <a:bodyPr wrap="square">
            <a:spAutoFit/>
          </a:bodyPr>
          <a:lstStyle/>
          <a:p>
            <a:r>
              <a:rPr lang="en-US" sz="2800" dirty="0"/>
              <a:t>This dashboard allows the admin to create new </a:t>
            </a:r>
            <a:r>
              <a:rPr lang="en-US" sz="2800" dirty="0" smtClean="0"/>
              <a:t>jobs</a:t>
            </a:r>
            <a:r>
              <a:rPr lang="en-US" sz="2800" dirty="0" smtClean="0"/>
              <a:t>, </a:t>
            </a:r>
            <a:r>
              <a:rPr lang="en-US" sz="2800" dirty="0"/>
              <a:t>delete </a:t>
            </a:r>
            <a:r>
              <a:rPr lang="en-US" sz="2800" dirty="0" smtClean="0"/>
              <a:t>jobs</a:t>
            </a:r>
            <a:r>
              <a:rPr lang="en-US" sz="2800" dirty="0" smtClean="0"/>
              <a:t> </a:t>
            </a:r>
            <a:r>
              <a:rPr lang="en-US" sz="2800" dirty="0"/>
              <a:t>and manage current </a:t>
            </a:r>
            <a:r>
              <a:rPr lang="en-US" sz="2800" dirty="0" smtClean="0"/>
              <a:t>jobs </a:t>
            </a:r>
            <a:r>
              <a:rPr lang="en-US" sz="2800" dirty="0" smtClean="0"/>
              <a:t>details</a:t>
            </a:r>
            <a:r>
              <a:rPr lang="en-US" sz="2800" dirty="0"/>
              <a:t>.</a:t>
            </a:r>
            <a:br>
              <a:rPr lang="en-US" sz="2800" dirty="0"/>
            </a:br>
            <a:endParaRPr lang="en-IN" dirty="0"/>
          </a:p>
        </p:txBody>
      </p:sp>
      <p:pic>
        <p:nvPicPr>
          <p:cNvPr id="40" name="Picture 39"/>
          <p:cNvPicPr>
            <a:picLocks noChangeAspect="1"/>
          </p:cNvPicPr>
          <p:nvPr/>
        </p:nvPicPr>
        <p:blipFill>
          <a:blip r:embed="rId3"/>
          <a:stretch>
            <a:fillRect/>
          </a:stretch>
        </p:blipFill>
        <p:spPr>
          <a:xfrm>
            <a:off x="2109002" y="1859697"/>
            <a:ext cx="14486875" cy="6195597"/>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6" name="Rectangle 5"/>
          <p:cNvSpPr/>
          <p:nvPr/>
        </p:nvSpPr>
        <p:spPr>
          <a:xfrm>
            <a:off x="2667000" y="8635083"/>
            <a:ext cx="12877800" cy="1200329"/>
          </a:xfrm>
          <a:prstGeom prst="rect">
            <a:avLst/>
          </a:prstGeom>
        </p:spPr>
        <p:txBody>
          <a:bodyPr wrap="square">
            <a:spAutoFit/>
          </a:bodyPr>
          <a:lstStyle/>
          <a:p>
            <a:r>
              <a:rPr lang="en-US" sz="2400" dirty="0" smtClean="0"/>
              <a:t>This </a:t>
            </a:r>
            <a:r>
              <a:rPr lang="en-US" sz="2400" dirty="0"/>
              <a:t>dashboard allows the admin to create new events, delete events, and manage current event details.</a:t>
            </a:r>
            <a:br>
              <a:rPr lang="en-US" sz="2400" dirty="0"/>
            </a:br>
            <a:r>
              <a:rPr lang="en-US" sz="2400" dirty="0"/>
              <a:t>It also displays all system bookings with ticket status and total price for monitoring and control</a:t>
            </a:r>
            <a:endParaRPr lang="en-IN" sz="2400" dirty="0"/>
          </a:p>
        </p:txBody>
      </p:sp>
      <p:pic>
        <p:nvPicPr>
          <p:cNvPr id="3" name="Picture 2"/>
          <p:cNvPicPr>
            <a:picLocks noChangeAspect="1"/>
          </p:cNvPicPr>
          <p:nvPr/>
        </p:nvPicPr>
        <p:blipFill>
          <a:blip r:embed="rId3"/>
          <a:stretch>
            <a:fillRect/>
          </a:stretch>
        </p:blipFill>
        <p:spPr>
          <a:xfrm>
            <a:off x="1877305" y="2526154"/>
            <a:ext cx="16098144" cy="4903346"/>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p:cNvPicPr>
            <a:picLocks noChangeAspect="1"/>
          </p:cNvPicPr>
          <p:nvPr/>
        </p:nvPicPr>
        <p:blipFill>
          <a:blip r:embed="rId3"/>
          <a:stretch>
            <a:fillRect/>
          </a:stretch>
        </p:blipFill>
        <p:spPr>
          <a:xfrm>
            <a:off x="1911993" y="1980926"/>
            <a:ext cx="14464013" cy="6325148"/>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088345"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tretch>
            <a:fillRect/>
          </a:stretch>
        </p:blipFill>
        <p:spPr>
          <a:xfrm>
            <a:off x="2398967" y="2177765"/>
            <a:ext cx="13564775" cy="4823878"/>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Rectangle 2"/>
          <p:cNvSpPr/>
          <p:nvPr/>
        </p:nvSpPr>
        <p:spPr>
          <a:xfrm>
            <a:off x="1485899" y="8817110"/>
            <a:ext cx="15902171" cy="1200329"/>
          </a:xfrm>
          <a:prstGeom prst="rect">
            <a:avLst/>
          </a:prstGeom>
        </p:spPr>
        <p:txBody>
          <a:bodyPr wrap="square">
            <a:spAutoFit/>
          </a:bodyPr>
          <a:lstStyle/>
          <a:p>
            <a:r>
              <a:rPr lang="en-US" sz="2400" dirty="0"/>
              <a:t>This page provides a </a:t>
            </a:r>
            <a:r>
              <a:rPr lang="en-US" sz="2400" b="1" dirty="0"/>
              <a:t>user portal</a:t>
            </a:r>
            <a:r>
              <a:rPr lang="en-US" sz="2400" dirty="0"/>
              <a:t> where guests can view a list of "Available Events" with details like venue and seat count. Users can </a:t>
            </a:r>
            <a:r>
              <a:rPr lang="en-US" sz="2400" b="1" dirty="0"/>
              <a:t>book new tickets</a:t>
            </a:r>
            <a:r>
              <a:rPr lang="en-US" sz="2400" dirty="0"/>
              <a:t> or manage their current reservations in the "My Bookings" section, which includes an option to cancel specific quantities.</a:t>
            </a:r>
            <a:endParaRPr lang="en-IN" sz="2400" dirty="0"/>
          </a:p>
        </p:txBody>
      </p:sp>
      <p:pic>
        <p:nvPicPr>
          <p:cNvPr id="2" name="Picture 1"/>
          <p:cNvPicPr>
            <a:picLocks noChangeAspect="1"/>
          </p:cNvPicPr>
          <p:nvPr/>
        </p:nvPicPr>
        <p:blipFill>
          <a:blip r:embed="rId3"/>
          <a:stretch>
            <a:fillRect/>
          </a:stretch>
        </p:blipFill>
        <p:spPr>
          <a:xfrm>
            <a:off x="6324600" y="2171701"/>
            <a:ext cx="6096000" cy="5474656"/>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Rectangle 2"/>
          <p:cNvSpPr/>
          <p:nvPr/>
        </p:nvSpPr>
        <p:spPr>
          <a:xfrm>
            <a:off x="1485898" y="8288858"/>
            <a:ext cx="16573501" cy="461665"/>
          </a:xfrm>
          <a:prstGeom prst="rect">
            <a:avLst/>
          </a:prstGeom>
        </p:spPr>
        <p:txBody>
          <a:bodyPr wrap="square">
            <a:spAutoFit/>
          </a:bodyPr>
          <a:lstStyle/>
          <a:p>
            <a:endParaRPr lang="en-IN" sz="2400" dirty="0"/>
          </a:p>
        </p:txBody>
      </p:sp>
      <p:pic>
        <p:nvPicPr>
          <p:cNvPr id="4" name="Picture 3"/>
          <p:cNvPicPr>
            <a:picLocks noChangeAspect="1"/>
          </p:cNvPicPr>
          <p:nvPr/>
        </p:nvPicPr>
        <p:blipFill>
          <a:blip r:embed="rId3"/>
          <a:stretch>
            <a:fillRect/>
          </a:stretch>
        </p:blipFill>
        <p:spPr>
          <a:xfrm>
            <a:off x="4114800" y="2475171"/>
            <a:ext cx="10363200" cy="4487029"/>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tretch>
            <a:fillRect/>
          </a:stretch>
        </p:blipFill>
        <p:spPr>
          <a:xfrm>
            <a:off x="3455177" y="3191918"/>
            <a:ext cx="12991592" cy="3856582"/>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2" name="TextBox 1"/>
          <p:cNvSpPr txBox="1"/>
          <p:nvPr/>
        </p:nvSpPr>
        <p:spPr>
          <a:xfrm>
            <a:off x="2286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Rectangle 2"/>
          <p:cNvSpPr/>
          <p:nvPr/>
        </p:nvSpPr>
        <p:spPr>
          <a:xfrm>
            <a:off x="2438400" y="2171829"/>
            <a:ext cx="13792200" cy="3539430"/>
          </a:xfrm>
          <a:prstGeom prst="rect">
            <a:avLst/>
          </a:prstGeom>
        </p:spPr>
        <p:txBody>
          <a:bodyPr wrap="square">
            <a:spAutoFit/>
          </a:bodyPr>
          <a:lstStyle/>
          <a:p>
            <a:r>
              <a:rPr lang="en-US" sz="2800" b="1" dirty="0"/>
              <a:t>Advantages</a:t>
            </a:r>
            <a:endParaRPr lang="en-US" sz="2800" b="1" dirty="0"/>
          </a:p>
          <a:p>
            <a:r>
              <a:rPr lang="en-US" sz="2800" b="1" dirty="0"/>
              <a:t>Easy Job Access</a:t>
            </a:r>
            <a:br>
              <a:rPr lang="en-US" sz="2800" dirty="0"/>
            </a:br>
            <a:r>
              <a:rPr lang="en-US" sz="2800" dirty="0"/>
              <a:t>Users can quickly find and apply for jobs from anywhere without visiting companies physically. </a:t>
            </a:r>
            <a:endParaRPr lang="en-US" sz="2800" dirty="0"/>
          </a:p>
          <a:p>
            <a:r>
              <a:rPr lang="en-US" sz="2800" b="1" dirty="0"/>
              <a:t>Time Saving</a:t>
            </a:r>
            <a:br>
              <a:rPr lang="en-US" sz="2800" dirty="0"/>
            </a:br>
            <a:r>
              <a:rPr lang="en-US" sz="2800" dirty="0"/>
              <a:t>Reduces manual work for both admin and users by automating job posting and application processes. </a:t>
            </a:r>
            <a:endParaRPr lang="en-US" sz="2800" dirty="0"/>
          </a:p>
          <a:p>
            <a:br>
              <a:rPr lang="en-US" sz="2800" dirty="0"/>
            </a:br>
            <a:endParaRPr lang="en-US" sz="2800" dirty="0"/>
          </a:p>
        </p:txBody>
      </p:sp>
      <p:sp>
        <p:nvSpPr>
          <p:cNvPr id="4" name="Rectangle 1"/>
          <p:cNvSpPr>
            <a:spLocks noChangeArrowheads="1"/>
          </p:cNvSpPr>
          <p:nvPr/>
        </p:nvSpPr>
        <p:spPr bwMode="auto">
          <a:xfrm>
            <a:off x="2192794" y="5143500"/>
            <a:ext cx="1272014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2800" b="1" i="0" u="none" strike="noStrike" cap="none" normalizeH="0" baseline="0" dirty="0" smtClean="0">
                <a:ln>
                  <a:noFill/>
                </a:ln>
                <a:solidFill>
                  <a:schemeClr val="tx1"/>
                </a:solidFill>
                <a:effectLst/>
                <a:latin typeface="Arial" panose="020B0604020202020204" pitchFamily="34" charset="0"/>
              </a:rPr>
              <a:t>Limitations</a:t>
            </a:r>
            <a:endParaRPr kumimoji="0" lang="en-US" altLang="en-US" sz="2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800" b="1" i="0" u="none" strike="noStrike" cap="none" normalizeH="0" baseline="0" dirty="0" smtClean="0">
                <a:ln>
                  <a:noFill/>
                </a:ln>
                <a:solidFill>
                  <a:schemeClr val="tx1"/>
                </a:solidFill>
                <a:effectLst/>
                <a:latin typeface="Arial" panose="020B0604020202020204" pitchFamily="34" charset="0"/>
              </a:rPr>
              <a:t>Data Security Risks</a:t>
            </a:r>
            <a:br>
              <a:rPr kumimoji="0" lang="en-US" altLang="en-US" sz="2800" b="0" i="0" u="none" strike="noStrike" cap="none" normalizeH="0" baseline="0" dirty="0" smtClean="0">
                <a:ln>
                  <a:noFill/>
                </a:ln>
                <a:solidFill>
                  <a:schemeClr val="tx1"/>
                </a:solidFill>
                <a:effectLst/>
                <a:latin typeface="Arial" panose="020B0604020202020204" pitchFamily="34" charset="0"/>
              </a:rPr>
            </a:br>
            <a:r>
              <a:rPr kumimoji="0" lang="en-US" altLang="en-US" sz="2800" b="0" i="0" u="none" strike="noStrike" cap="none" normalizeH="0" baseline="0" dirty="0" smtClean="0">
                <a:ln>
                  <a:noFill/>
                </a:ln>
                <a:solidFill>
                  <a:schemeClr val="tx1"/>
                </a:solidFill>
                <a:effectLst/>
                <a:latin typeface="Arial" panose="020B0604020202020204" pitchFamily="34" charset="0"/>
              </a:rPr>
              <a:t>Sensitive user data (like personal details) must be protected from cyber threats</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a:p>
            <a:pPr lvl="0" eaLnBrk="0" fontAlgn="base" hangingPunct="0">
              <a:spcBef>
                <a:spcPct val="0"/>
              </a:spcBef>
              <a:spcAft>
                <a:spcPct val="0"/>
              </a:spcAft>
              <a:buFontTx/>
              <a:buChar char="•"/>
            </a:pPr>
            <a:r>
              <a:rPr lang="en-US" sz="2800" b="1" dirty="0"/>
              <a:t>Data Security Risks</a:t>
            </a:r>
            <a:br>
              <a:rPr lang="en-US" sz="2800" dirty="0"/>
            </a:br>
            <a:r>
              <a:rPr lang="en-US" sz="2800" dirty="0"/>
              <a:t>Sensitive user data (like personal details) must be protected from cyber threats.</a:t>
            </a:r>
            <a:r>
              <a:rPr kumimoji="0" lang="en-US" altLang="en-US" sz="2800" b="0" i="0" u="none" strike="noStrike" cap="none" normalizeH="0" baseline="0" dirty="0" smtClean="0">
                <a:ln>
                  <a:noFill/>
                </a:ln>
                <a:solidFill>
                  <a:schemeClr val="tx1"/>
                </a:solidFill>
                <a:effectLst/>
                <a:latin typeface="Arial" panose="020B0604020202020204" pitchFamily="34" charset="0"/>
              </a:rPr>
              <a:t> </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endPar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endParaRP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5447</Words>
  <Application>WPS Presentation</Application>
  <PresentationFormat>Custom</PresentationFormat>
  <Paragraphs>610</Paragraphs>
  <Slides>20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SimSun</vt:lpstr>
      <vt:lpstr>Wingdings</vt:lpstr>
      <vt:lpstr>Cambria</vt:lpstr>
      <vt:lpstr>Bookman Old Style</vt:lpstr>
      <vt:lpstr>Times New Roman</vt:lpstr>
      <vt:lpstr>Gotham</vt:lpstr>
      <vt:lpstr>Calibri</vt:lpstr>
      <vt:lpstr>Microsoft YaHei</vt:lpstr>
      <vt:lpstr>Arial Unicode MS</vt:lpstr>
      <vt:lpstr>Gotham Bold Italics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selvamani krishnamoorthy</dc:creator>
  <cp:lastModifiedBy>saisa</cp:lastModifiedBy>
  <cp:revision>36</cp:revision>
  <dcterms:created xsi:type="dcterms:W3CDTF">2006-08-16T00:00:00Z</dcterms:created>
  <dcterms:modified xsi:type="dcterms:W3CDTF">2026-05-05T17:43:44Z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6E386D4576D44E66B7B3B24D82FD8A82_12</vt:lpwstr>
  </property>
</Properties>
</file>
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74" r:id="rId12"/>
    <p:sldId id="266" r:id="rId13"/>
    <p:sldId id="269" r:id="rId14"/>
    <p:sldId id="267" r:id="rId15"/>
    <p:sldId id="268" r:id="rId16"/>
    <p:sldId id="272" r:id="rId17"/>
    <p:sldId id="271" r:id="rId18"/>
    <p:sldId id="273" r:id="rId19"/>
    <p:sldId id="275" r:id="rId20"/>
    <p:sldId id="276" r:id="rId21"/>
    <p:sldId id="270" r:id="rId22"/>
    <p:sldId id="265" r:id="rId23"/>
  </p:sldIdLst>
  <p:sldSz cx="18288000" cy="10287000"/>
  <p:notesSz cx="6858000" cy="9144000"/>
  <p:embeddedFontLst>
    <p:embeddedFont>
      <p:font typeface="Cambria" panose="02040503050406030204" pitchFamily="18" charset="0"/>
      <p:regular r:id="rId27"/>
      <p:bold r:id="rId28"/>
      <p:italic r:id="rId29"/>
      <p:boldItalic r:id="rId30"/>
    </p:embeddedFont>
    <p:embeddedFont>
      <p:font typeface="Bookman Old Style" panose="02050604050505020204" pitchFamily="18" charset="0"/>
      <p:regular r:id="rId31"/>
      <p:bold r:id="rId32"/>
      <p:italic r:id="rId33"/>
    </p:embeddedFont>
    <p:embeddedFont>
      <p:font typeface="Gotham"/>
      <p:regular r:id="rId34"/>
    </p:embeddedFont>
    <p:embeddedFont>
      <p:font typeface="Calibri" panose="020F0502020204030204" charset="0"/>
      <p:regular r:id="rId35"/>
      <p:bold r:id="rId36"/>
      <p:italic r:id="rId37"/>
      <p:boldItalic r:id="rId38"/>
    </p:embeddedFont>
    <p:embeddedFont>
      <p:font typeface="Gotham Bold Italics" panose="02000000000000000000"/>
      <p:boldItalic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33" d="100"/>
          <a:sy n="33" d="100"/>
        </p:scale>
        <p:origin x="24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font" Target="fonts/font13.fntdata"/><Relationship Id="rId38" Type="http://schemas.openxmlformats.org/officeDocument/2006/relationships/font" Target="fonts/font12.fntdata"/><Relationship Id="rId37" Type="http://schemas.openxmlformats.org/officeDocument/2006/relationships/font" Target="fonts/font11.fntdata"/><Relationship Id="rId36" Type="http://schemas.openxmlformats.org/officeDocument/2006/relationships/font" Target="fonts/font10.fntdata"/><Relationship Id="rId35" Type="http://schemas.openxmlformats.org/officeDocument/2006/relationships/font" Target="fonts/font9.fntdata"/><Relationship Id="rId34" Type="http://schemas.openxmlformats.org/officeDocument/2006/relationships/font" Target="fonts/font8.fntdata"/><Relationship Id="rId33" Type="http://schemas.openxmlformats.org/officeDocument/2006/relationships/font" Target="fonts/font7.fntdata"/><Relationship Id="rId32" Type="http://schemas.openxmlformats.org/officeDocument/2006/relationships/font" Target="fonts/font6.fntdata"/><Relationship Id="rId31" Type="http://schemas.openxmlformats.org/officeDocument/2006/relationships/font" Target="fonts/font5.fntdata"/><Relationship Id="rId30" Type="http://schemas.openxmlformats.org/officeDocument/2006/relationships/font" Target="fonts/font4.fntdata"/><Relationship Id="rId3" Type="http://schemas.openxmlformats.org/officeDocument/2006/relationships/slide" Target="slides/slide1.xml"/><Relationship Id="rId29" Type="http://schemas.openxmlformats.org/officeDocument/2006/relationships/font" Target="fonts/font3.fntdata"/><Relationship Id="rId28" Type="http://schemas.openxmlformats.org/officeDocument/2006/relationships/font" Target="fonts/font2.fntdata"/><Relationship Id="rId27" Type="http://schemas.openxmlformats.org/officeDocument/2006/relationships/font" Target="fonts/font1.fntdata"/><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pic>
        <p:nvPicPr>
          <p:cNvPr id="23" name="Picture 22"/>
          <p:cNvPicPr>
            <a:picLocks noChangeAspect="1"/>
          </p:cNvPicPr>
          <p:nvPr/>
        </p:nvPicPr>
        <p:blipFill>
          <a:blip r:embed="rId1"/>
          <a:stretch>
            <a:fillRect/>
          </a:stretch>
        </p:blipFill>
        <p:spPr>
          <a:xfrm>
            <a:off x="6799772" y="16492"/>
            <a:ext cx="4131816" cy="1784622"/>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endParaRPr lang="en-US" sz="3200" b="1" dirty="0">
              <a:latin typeface="Cambria" panose="02040503050406030204" pitchFamily="18" charset="0"/>
              <a:ea typeface="Cambria" panose="02040503050406030204" pitchFamily="18" charset="0"/>
            </a:endParaRPr>
          </a:p>
          <a:p>
            <a:pPr algn="ctr"/>
            <a:r>
              <a:rPr lang="en-US" sz="3600" b="1" dirty="0">
                <a:latin typeface="Cambria" panose="02040503050406030204" pitchFamily="18" charset="0"/>
                <a:ea typeface="Cambria" panose="02040503050406030204" pitchFamily="18" charset="0"/>
              </a:rPr>
              <a:t>School of Computing </a:t>
            </a:r>
            <a:endParaRPr lang="en-US" sz="3600" b="1" dirty="0">
              <a:latin typeface="Cambria" panose="02040503050406030204" pitchFamily="18" charset="0"/>
              <a:ea typeface="Cambria" panose="02040503050406030204" pitchFamily="18" charset="0"/>
            </a:endParaRP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727450" y="3897630"/>
            <a:ext cx="11190605" cy="1169670"/>
          </a:xfrm>
          <a:prstGeom prst="rect">
            <a:avLst/>
          </a:prstGeom>
          <a:noFill/>
        </p:spPr>
        <p:txBody>
          <a:bodyPr wrap="square" rtlCol="0">
            <a:no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endParaRPr lang="en-IN" sz="3600" b="1" dirty="0">
              <a:solidFill>
                <a:srgbClr val="C00000"/>
              </a:solidFill>
              <a:latin typeface="Arial" panose="020B0604020202020204" pitchFamily="34" charset="0"/>
              <a:cs typeface="Arial" panose="020B0604020202020204" pitchFamily="34" charset="0"/>
            </a:endParaRP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endParaRPr lang="en-IN" sz="3600" b="1" dirty="0">
              <a:solidFill>
                <a:srgbClr val="C00000"/>
              </a:solidFill>
              <a:latin typeface="Arial" panose="020B0604020202020204" pitchFamily="34" charset="0"/>
              <a:cs typeface="Arial" panose="020B0604020202020204" pitchFamily="34" charset="0"/>
            </a:endParaRPr>
          </a:p>
        </p:txBody>
      </p:sp>
      <p:sp>
        <p:nvSpPr>
          <p:cNvPr id="13" name="TextBox 12"/>
          <p:cNvSpPr txBox="1"/>
          <p:nvPr/>
        </p:nvSpPr>
        <p:spPr>
          <a:xfrm>
            <a:off x="1430820" y="5628680"/>
            <a:ext cx="15784162" cy="1077218"/>
          </a:xfrm>
          <a:prstGeom prst="rect">
            <a:avLst/>
          </a:prstGeom>
          <a:noFill/>
        </p:spPr>
        <p:txBody>
          <a:bodyPr wrap="square" rtlCol="0">
            <a:spAutoFit/>
          </a:bodyPr>
          <a:lstStyle/>
          <a:p>
            <a:pPr algn="ctr"/>
            <a:r>
              <a:rPr lang="en-US" sz="3200" b="1" dirty="0">
                <a:solidFill>
                  <a:srgbClr val="FF0000"/>
                </a:solidFill>
              </a:rPr>
              <a:t>Job Portal Management System</a:t>
            </a:r>
            <a:endParaRPr lang="en-IN" sz="3200" b="1" dirty="0">
              <a:solidFill>
                <a:srgbClr val="FF0000"/>
              </a:solidFill>
              <a:latin typeface="Times New Roman" panose="02020603050405020304" pitchFamily="18" charset="0"/>
              <a:cs typeface="Times New Roman" panose="02020603050405020304" pitchFamily="18" charset="0"/>
            </a:endParaRPr>
          </a:p>
          <a:p>
            <a:pPr algn="ct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893870" y="7800539"/>
            <a:ext cx="9067800" cy="1477328"/>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endParaRPr lang="en-US" sz="3000" b="1" dirty="0">
              <a:latin typeface="Cambria" panose="02040503050406030204" pitchFamily="18" charset="0"/>
              <a:ea typeface="Cambria" panose="02040503050406030204" pitchFamily="18" charset="0"/>
            </a:endParaRPr>
          </a:p>
          <a:p>
            <a:pPr>
              <a:lnSpc>
                <a:spcPct val="150000"/>
              </a:lnSpc>
            </a:pPr>
            <a:r>
              <a:rPr lang="en-US" sz="3000" dirty="0" err="1" smtClean="0">
                <a:latin typeface="Cambria" panose="02040503050406030204" pitchFamily="18" charset="0"/>
                <a:ea typeface="Cambria" panose="02040503050406030204" pitchFamily="18" charset="0"/>
              </a:rPr>
              <a:t>S.Sarika</a:t>
            </a:r>
            <a:r>
              <a:rPr lang="en-US" sz="3000" dirty="0" smtClean="0">
                <a:latin typeface="Cambria" panose="02040503050406030204" pitchFamily="18" charset="0"/>
                <a:ea typeface="Cambria" panose="02040503050406030204" pitchFamily="18" charset="0"/>
              </a:rPr>
              <a:t>– VTU26196 </a:t>
            </a:r>
            <a:r>
              <a:rPr lang="en-US" sz="3000" dirty="0">
                <a:latin typeface="Cambria" panose="02040503050406030204" pitchFamily="18" charset="0"/>
                <a:ea typeface="Cambria" panose="02040503050406030204" pitchFamily="18" charset="0"/>
              </a:rPr>
              <a:t>– </a:t>
            </a:r>
            <a:r>
              <a:rPr lang="en-US" sz="3000" dirty="0" smtClean="0">
                <a:latin typeface="Cambria" panose="02040503050406030204" pitchFamily="18" charset="0"/>
                <a:ea typeface="Cambria" panose="02040503050406030204" pitchFamily="18" charset="0"/>
              </a:rPr>
              <a:t>Reg.No.23UECS0499</a:t>
            </a:r>
            <a:endParaRPr lang="en-IN" sz="3000" dirty="0">
              <a:latin typeface="Cambria" panose="02040503050406030204" pitchFamily="18" charset="0"/>
              <a:ea typeface="Cambria" panose="02040503050406030204" pitchFamily="18" charset="0"/>
            </a:endParaRPr>
          </a:p>
        </p:txBody>
      </p:sp>
      <p:sp>
        <p:nvSpPr>
          <p:cNvPr id="15" name="TextBox 14"/>
          <p:cNvSpPr txBox="1"/>
          <p:nvPr/>
        </p:nvSpPr>
        <p:spPr>
          <a:xfrm>
            <a:off x="9753601" y="7818586"/>
            <a:ext cx="8106038" cy="1477328"/>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endParaRPr lang="en-US" sz="3000" b="1" dirty="0">
              <a:latin typeface="Cambria" panose="02040503050406030204" pitchFamily="18" charset="0"/>
              <a:ea typeface="Cambria" panose="02040503050406030204" pitchFamily="18" charset="0"/>
            </a:endParaRPr>
          </a:p>
          <a:p>
            <a:pPr>
              <a:lnSpc>
                <a:spcPct val="150000"/>
              </a:lnSpc>
            </a:pPr>
            <a:r>
              <a:rPr lang="en-US" sz="3000" dirty="0" smtClean="0">
                <a:latin typeface="Cambria" panose="02040503050406030204" pitchFamily="18" charset="0"/>
                <a:ea typeface="Cambria" panose="02040503050406030204" pitchFamily="18" charset="0"/>
              </a:rPr>
              <a:t>Dr. </a:t>
            </a:r>
            <a:r>
              <a:rPr lang="en-US" sz="3000" dirty="0" err="1" smtClean="0">
                <a:latin typeface="Cambria" panose="02040503050406030204" pitchFamily="18" charset="0"/>
                <a:ea typeface="Cambria" panose="02040503050406030204" pitchFamily="18" charset="0"/>
              </a:rPr>
              <a:t>S.Manohar</a:t>
            </a:r>
            <a:r>
              <a:rPr lang="en-US" sz="3000" dirty="0" smtClean="0">
                <a:latin typeface="Cambria" panose="02040503050406030204" pitchFamily="18" charset="0"/>
                <a:ea typeface="Cambria" panose="02040503050406030204" pitchFamily="18" charset="0"/>
              </a:rPr>
              <a:t> </a:t>
            </a:r>
            <a:r>
              <a:rPr lang="en-US" sz="3000" dirty="0" err="1" smtClean="0">
                <a:latin typeface="Cambria" panose="02040503050406030204" pitchFamily="18" charset="0"/>
                <a:ea typeface="Cambria" panose="02040503050406030204" pitchFamily="18" charset="0"/>
              </a:rPr>
              <a:t>ME,PhD</a:t>
            </a:r>
            <a:r>
              <a:rPr lang="en-US" sz="3000" dirty="0">
                <a:latin typeface="Cambria" panose="02040503050406030204" pitchFamily="18" charset="0"/>
                <a:ea typeface="Cambria" panose="02040503050406030204" pitchFamily="18" charset="0"/>
              </a:rPr>
              <a:t> </a:t>
            </a:r>
            <a:r>
              <a:rPr lang="en-US" sz="3000" dirty="0" smtClean="0">
                <a:latin typeface="Cambria" panose="02040503050406030204" pitchFamily="18" charset="0"/>
                <a:ea typeface="Cambria" panose="02040503050406030204" pitchFamily="18" charset="0"/>
              </a:rPr>
              <a:t> Assistant Professor</a:t>
            </a:r>
            <a:endParaRPr lang="en-IN" sz="3000" dirty="0">
              <a:latin typeface="Cambria" panose="02040503050406030204" pitchFamily="18" charset="0"/>
              <a:ea typeface="Cambria" panose="02040503050406030204" pitchFamily="18" charset="0"/>
            </a:endParaRPr>
          </a:p>
        </p:txBody>
      </p:sp>
      <p:sp>
        <p:nvSpPr>
          <p:cNvPr id="16" name="TextBox 15"/>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a:t>
            </a:r>
            <a:r>
              <a:rPr lang="en-US" sz="2000" b="1" dirty="0" smtClean="0">
                <a:latin typeface="Cambria" panose="02040503050406030204" pitchFamily="18" charset="0"/>
                <a:ea typeface="Cambria" panose="02040503050406030204" pitchFamily="18" charset="0"/>
              </a:rPr>
              <a:t>: 8 </a:t>
            </a:r>
            <a:r>
              <a:rPr lang="en-US" sz="2000" b="1" dirty="0" smtClean="0"/>
              <a:t> </a:t>
            </a:r>
            <a:r>
              <a:rPr lang="en-US" sz="2000" b="1" dirty="0"/>
              <a:t>Decent Work and Economic Growth</a:t>
            </a:r>
            <a:endParaRPr lang="en-IN" sz="2000" b="1"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dirty="0">
                  <a:solidFill>
                    <a:srgbClr val="FFFEFE"/>
                  </a:solidFill>
                  <a:latin typeface="Gotham"/>
                  <a:ea typeface="Gotham"/>
                  <a:cs typeface="Gotham"/>
                  <a:sym typeface="Gotham"/>
                </a:rPr>
                <a:t>1</a:t>
              </a:r>
              <a:endParaRPr lang="en-US" sz="2700" dirty="0">
                <a:solidFill>
                  <a:srgbClr val="FFFEFE"/>
                </a:solidFill>
                <a:latin typeface="Gotham"/>
                <a:ea typeface="Gotham"/>
                <a:cs typeface="Gotham"/>
                <a:sym typeface="Gotham"/>
              </a:endParaRP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6</a:t>
              </a:r>
              <a:endParaRPr lang="en-US" sz="1700" dirty="0">
                <a:solidFill>
                  <a:srgbClr val="191919"/>
                </a:solidFill>
                <a:latin typeface="Gotham"/>
                <a:ea typeface="Gotham"/>
                <a:cs typeface="Gotham"/>
                <a:sym typeface="Gotham"/>
              </a:endParaRP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2" name="TextBox 1"/>
          <p:cNvSpPr txBox="1"/>
          <p:nvPr/>
        </p:nvSpPr>
        <p:spPr>
          <a:xfrm>
            <a:off x="152400" y="342900"/>
            <a:ext cx="15849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1653141" y="1707217"/>
            <a:ext cx="15082325" cy="9140964"/>
          </a:xfrm>
          <a:prstGeom prst="rect">
            <a:avLst/>
          </a:prstGeom>
          <a:noFill/>
        </p:spPr>
        <p:txBody>
          <a:bodyPr wrap="square" rtlCol="0">
            <a:spAutoFit/>
          </a:bodyPr>
          <a:lstStyle/>
          <a:p>
            <a:pPr marL="457200" indent="-457200">
              <a:buFontTx/>
              <a:buChar char="-"/>
            </a:pPr>
            <a:r>
              <a:rPr lang="en-US" sz="2800" dirty="0"/>
              <a:t>A Job Portal Management System is a web-based application designed to connect job seekers and employers efficiently. It allows users to search and apply for jobs based on their skills and interests. Employers can post job vacancies and manage applications in a structured manner. The system provides an easy-to-use interface for both admins and users. It helps automate the recruitment process and reduces manual work. Job seekers can create profiles and upload resumes for better opportunities. Overall, it improves the speed and effectiveness of hiring and job searching.</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6" name="Group 37"/>
          <p:cNvGrpSpPr/>
          <p:nvPr/>
        </p:nvGrpSpPr>
        <p:grpSpPr>
          <a:xfrm>
            <a:off x="14020800" y="-8142801"/>
            <a:ext cx="10994424" cy="10994424"/>
            <a:chOff x="0" y="0"/>
            <a:chExt cx="812800" cy="812800"/>
          </a:xfrm>
        </p:grpSpPr>
        <p:sp>
          <p:nvSpPr>
            <p:cNvPr id="7"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0"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76200" y="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endParaRPr lang="en-US" sz="2700">
                <a:solidFill>
                  <a:srgbClr val="FFFEFE"/>
                </a:solidFill>
                <a:latin typeface="Gotham"/>
                <a:ea typeface="Gotham"/>
                <a:cs typeface="Gotham"/>
                <a:sym typeface="Gotham"/>
              </a:endParaRP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8" name="TextBox 47"/>
          <p:cNvSpPr txBox="1"/>
          <p:nvPr/>
        </p:nvSpPr>
        <p:spPr>
          <a:xfrm>
            <a:off x="2209800" y="1638300"/>
            <a:ext cx="15082325" cy="9571851"/>
          </a:xfrm>
          <a:prstGeom prst="rect">
            <a:avLst/>
          </a:prstGeom>
          <a:noFill/>
        </p:spPr>
        <p:txBody>
          <a:bodyPr wrap="square" rtlCol="0">
            <a:spAutoFit/>
          </a:bodyPr>
          <a:lstStyle/>
          <a:p>
            <a:pPr marL="457200" indent="-457200">
              <a:buFontTx/>
              <a:buChar char="-"/>
            </a:pPr>
            <a:r>
              <a:rPr lang="en-US" sz="2800" dirty="0"/>
              <a:t>In the traditional recruitment process, job seekers and employers face difficulties in connecting efficiently. Job seekers often struggle to find relevant job opportunities in one place. Employers find it time-consuming to manage job postings and filter suitable candidates manually. There is a lack of a centralized platform for smooth interaction between both parties. Manual processes lead to delays and inefficiency in hiring. It is also difficult to track applications and manage resumes effectively. This results in poor communication and reduced hiring productivity. Therefore, a Job Portal Management System is required to automate and simplify the recruitment process.</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3" name="Group 37"/>
          <p:cNvGrpSpPr/>
          <p:nvPr/>
        </p:nvGrpSpPr>
        <p:grpSpPr>
          <a:xfrm>
            <a:off x="14020800" y="-8142801"/>
            <a:ext cx="10994424" cy="10994424"/>
            <a:chOff x="0" y="0"/>
            <a:chExt cx="812800" cy="812800"/>
          </a:xfrm>
        </p:grpSpPr>
        <p:sp>
          <p:nvSpPr>
            <p:cNvPr id="4"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5"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50" name="TextBox 49"/>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3" name="Group 37"/>
          <p:cNvGrpSpPr/>
          <p:nvPr/>
        </p:nvGrpSpPr>
        <p:grpSpPr>
          <a:xfrm>
            <a:off x="14020800" y="-8142801"/>
            <a:ext cx="10994424" cy="10994424"/>
            <a:chOff x="0" y="0"/>
            <a:chExt cx="812800" cy="812800"/>
          </a:xfrm>
        </p:grpSpPr>
        <p:sp>
          <p:nvSpPr>
            <p:cNvPr id="4"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5"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6" name="TextBox 5"/>
          <p:cNvSpPr txBox="1"/>
          <p:nvPr/>
        </p:nvSpPr>
        <p:spPr>
          <a:xfrm>
            <a:off x="2209800" y="1638300"/>
            <a:ext cx="15082325" cy="9140964"/>
          </a:xfrm>
          <a:prstGeom prst="rect">
            <a:avLst/>
          </a:prstGeom>
          <a:noFill/>
        </p:spPr>
        <p:txBody>
          <a:bodyPr wrap="square" rtlCol="0">
            <a:spAutoFit/>
          </a:bodyPr>
          <a:lstStyle/>
          <a:p>
            <a:pPr marL="457200" indent="-457200">
              <a:buFontTx/>
              <a:buChar char="-"/>
            </a:pPr>
            <a:r>
              <a:rPr lang="en-US" sz="2800" dirty="0"/>
              <a:t>To develop a centralized platform that connects job seekers and employers efficiently.</a:t>
            </a:r>
            <a:br>
              <a:rPr lang="en-US" sz="2800" dirty="0"/>
            </a:br>
            <a:r>
              <a:rPr lang="en-US" sz="2800" dirty="0"/>
              <a:t>It helps users search, apply, and manage job opportunities in an organized way.</a:t>
            </a:r>
            <a:endParaRPr lang="en-US" sz="2800" dirty="0"/>
          </a:p>
          <a:p>
            <a:pPr marL="457200" indent="-457200">
              <a:buFontTx/>
              <a:buChar char="-"/>
            </a:pPr>
            <a:r>
              <a:rPr lang="en-US" sz="2800" dirty="0"/>
              <a:t>To automate the recruitment process by reducing manual work in job posting and application handling.</a:t>
            </a:r>
            <a:br>
              <a:rPr lang="en-US" sz="2800" dirty="0"/>
            </a:br>
            <a:r>
              <a:rPr lang="en-US" sz="2800" dirty="0"/>
              <a:t>It improves hiring speed, accuracy, and overall communication between users and recruiters.</a:t>
            </a:r>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p:cNvSpPr txBox="1"/>
          <p:nvPr/>
        </p:nvSpPr>
        <p:spPr>
          <a:xfrm>
            <a:off x="2209800" y="1638300"/>
            <a:ext cx="15082325" cy="9140964"/>
          </a:xfrm>
          <a:prstGeom prst="rect">
            <a:avLst/>
          </a:prstGeom>
          <a:noFill/>
        </p:spPr>
        <p:txBody>
          <a:bodyPr wrap="square" rtlCol="0">
            <a:spAutoFit/>
          </a:bodyPr>
          <a:lstStyle/>
          <a:p>
            <a:pPr marL="914400" lvl="1" indent="-457200">
              <a:buFont typeface="Arial" panose="020B0604020202020204" pitchFamily="34" charset="0"/>
              <a:buChar char="•"/>
            </a:pPr>
            <a:r>
              <a:rPr lang="en-US" sz="2800" dirty="0"/>
              <a:t>The proposed Job Portal Management System is a web-based application designed to simplify and automate the recruitment process. It provides a centralized platform where job seekers can register, create profiles, upload resumes, and apply for suitable job openings. Employers can post job vacancies, view applications, and manage candidate selection efficiently. The system includes an admin module to monitor and control all activities for smooth functioning. It reduces manual effort and improves communication between job seekers and recruiters. The interface is designed to be user-friendly, making job search and hiring faster and more efficient. Overall, it ensures a more organized, reliable, and time-saving recruitment process.</a:t>
            </a:r>
            <a:endParaRPr lang="en-US" sz="2800" dirty="0"/>
          </a:p>
          <a:p>
            <a:pPr marL="914400" lvl="1" indent="-457200">
              <a:buFont typeface="Arial" panose="020B0604020202020204" pitchFamily="34" charset="0"/>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endParaRPr lang="en-US" sz="2700">
                <a:solidFill>
                  <a:srgbClr val="FFFEFE"/>
                </a:solidFill>
                <a:latin typeface="Gotham"/>
                <a:ea typeface="Gotham"/>
                <a:cs typeface="Gotham"/>
                <a:sym typeface="Gotham"/>
              </a:endParaRP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6" name="TextBox 45"/>
          <p:cNvSpPr txBox="1"/>
          <p:nvPr/>
        </p:nvSpPr>
        <p:spPr>
          <a:xfrm>
            <a:off x="25879" y="400481"/>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2" name="Group 37"/>
          <p:cNvGrpSpPr/>
          <p:nvPr/>
        </p:nvGrpSpPr>
        <p:grpSpPr>
          <a:xfrm>
            <a:off x="14020800" y="-8142801"/>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2" name="TextBox 41"/>
          <p:cNvSpPr txBox="1"/>
          <p:nvPr/>
        </p:nvSpPr>
        <p:spPr>
          <a:xfrm>
            <a:off x="0" y="486639"/>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p:cNvSpPr txBox="1"/>
          <p:nvPr/>
        </p:nvSpPr>
        <p:spPr>
          <a:xfrm>
            <a:off x="2209800" y="1638300"/>
            <a:ext cx="15082325" cy="5693866"/>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5" name="Picture 34"/>
          <p:cNvPicPr>
            <a:picLocks noChangeAspect="1"/>
          </p:cNvPicPr>
          <p:nvPr/>
        </p:nvPicPr>
        <p:blipFill>
          <a:blip r:embed="rId1"/>
          <a:stretch>
            <a:fillRect/>
          </a:stretch>
        </p:blipFill>
        <p:spPr>
          <a:xfrm>
            <a:off x="5791463" y="2933806"/>
            <a:ext cx="8230313" cy="5143946"/>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endParaRPr lang="en-US" sz="2700">
                <a:solidFill>
                  <a:srgbClr val="FFFEFE"/>
                </a:solidFill>
                <a:latin typeface="Gotham"/>
                <a:ea typeface="Gotham"/>
                <a:cs typeface="Gotham"/>
                <a:sym typeface="Gotham"/>
              </a:endParaRP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7" name="TextBox 46"/>
          <p:cNvSpPr txBox="1"/>
          <p:nvPr/>
        </p:nvSpPr>
        <p:spPr>
          <a:xfrm>
            <a:off x="190500" y="315938"/>
            <a:ext cx="158115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2" name="Group 37"/>
          <p:cNvGrpSpPr/>
          <p:nvPr/>
        </p:nvGrpSpPr>
        <p:grpSpPr>
          <a:xfrm>
            <a:off x="14020800" y="-8142801"/>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pic>
        <p:nvPicPr>
          <p:cNvPr id="5" name="Picture 4"/>
          <p:cNvPicPr>
            <a:picLocks noChangeAspect="1"/>
          </p:cNvPicPr>
          <p:nvPr/>
        </p:nvPicPr>
        <p:blipFill>
          <a:blip r:embed="rId1"/>
          <a:stretch>
            <a:fillRect/>
          </a:stretch>
        </p:blipFill>
        <p:spPr>
          <a:xfrm>
            <a:off x="3733801" y="2171700"/>
            <a:ext cx="10820400" cy="701040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endParaRPr lang="en-US" sz="2700">
                <a:solidFill>
                  <a:srgbClr val="FFFEFE"/>
                </a:solidFill>
                <a:latin typeface="Gotham"/>
                <a:ea typeface="Gotham"/>
                <a:cs typeface="Gotham"/>
                <a:sym typeface="Gotham"/>
              </a:endParaRP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7" name="TextBox 46"/>
          <p:cNvSpPr txBox="1"/>
          <p:nvPr/>
        </p:nvSpPr>
        <p:spPr>
          <a:xfrm>
            <a:off x="152400" y="342900"/>
            <a:ext cx="16764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057400" y="2091267"/>
            <a:ext cx="15082325" cy="10864513"/>
          </a:xfrm>
          <a:prstGeom prst="rect">
            <a:avLst/>
          </a:prstGeom>
          <a:noFill/>
        </p:spPr>
        <p:txBody>
          <a:bodyPr wrap="square" rtlCol="0">
            <a:spAutoFit/>
          </a:bodyPr>
          <a:lstStyle/>
          <a:p>
            <a:r>
              <a:rPr lang="en-IN" sz="2800" b="1" dirty="0"/>
              <a:t>Frontend:</a:t>
            </a:r>
            <a:br>
              <a:rPr lang="en-IN" sz="2800" dirty="0"/>
            </a:br>
            <a:r>
              <a:rPr lang="en-IN" sz="2800" dirty="0"/>
              <a:t>HTML, CSS, </a:t>
            </a:r>
            <a:r>
              <a:rPr lang="en-IN" sz="2800" dirty="0" err="1"/>
              <a:t>Thymeleaf</a:t>
            </a:r>
            <a:r>
              <a:rPr lang="en-IN" sz="2800" dirty="0"/>
              <a:t> (User Portal and Admin Portal Interface)</a:t>
            </a:r>
            <a:endParaRPr lang="en-IN" sz="2800" dirty="0"/>
          </a:p>
          <a:p>
            <a:r>
              <a:rPr lang="en-IN" sz="2800" b="1" dirty="0"/>
              <a:t>Backend:</a:t>
            </a:r>
            <a:br>
              <a:rPr lang="en-IN" sz="2800" dirty="0"/>
            </a:br>
            <a:r>
              <a:rPr lang="en-IN" sz="2800" dirty="0"/>
              <a:t>Spring Boot ,Java, REST Controllers, Service Layer</a:t>
            </a:r>
            <a:endParaRPr lang="en-IN" sz="2800" dirty="0"/>
          </a:p>
          <a:p>
            <a:r>
              <a:rPr lang="en-IN" sz="2800" b="1" dirty="0"/>
              <a:t>Database:</a:t>
            </a:r>
            <a:br>
              <a:rPr lang="en-IN" sz="2800" dirty="0"/>
            </a:br>
            <a:r>
              <a:rPr lang="en-IN" sz="2800" dirty="0"/>
              <a:t>MySQL (Stores Events and Booking Details)</a:t>
            </a:r>
            <a:endParaRPr lang="en-IN" sz="2800" dirty="0"/>
          </a:p>
          <a:p>
            <a:r>
              <a:rPr lang="en-IN" sz="2800" b="1" dirty="0"/>
              <a:t>Tools:</a:t>
            </a:r>
            <a:br>
              <a:rPr lang="en-IN" sz="2800" dirty="0"/>
            </a:br>
            <a:r>
              <a:rPr lang="en-IN" sz="2800" dirty="0"/>
              <a:t>Eclipse IDE , MySQL Workbench, Maven</a:t>
            </a:r>
            <a:endParaRPr lang="en-IN" sz="2800" dirty="0"/>
          </a:p>
          <a:p>
            <a:r>
              <a:rPr lang="en-IN" sz="2800" b="1" dirty="0"/>
              <a:t>Hardware/Software Requirements:</a:t>
            </a:r>
            <a:br>
              <a:rPr lang="en-IN" sz="2800" dirty="0"/>
            </a:br>
            <a:r>
              <a:rPr lang="en-IN" sz="2800" dirty="0"/>
              <a:t>Minimum 8GB RAM, Intel i3 or above, Windows 10/11, JDK 17+, MySQL Server, Web Browser (Chrome/Edge)</a:t>
            </a:r>
            <a:endParaRPr lang="en-IN"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2" name="Group 37"/>
          <p:cNvGrpSpPr/>
          <p:nvPr/>
        </p:nvGrpSpPr>
        <p:grpSpPr>
          <a:xfrm>
            <a:off x="14401800" y="-2955537"/>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56972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1806580" y="2369175"/>
            <a:ext cx="15849600" cy="6986528"/>
          </a:xfrm>
          <a:prstGeom prst="rect">
            <a:avLst/>
          </a:prstGeom>
          <a:noFill/>
        </p:spPr>
        <p:txBody>
          <a:bodyPr wrap="square" rtlCol="0">
            <a:spAutoFit/>
          </a:bodyPr>
          <a:lstStyle/>
          <a:p>
            <a:endParaRPr lang="en-IN" sz="2800" b="1" dirty="0"/>
          </a:p>
          <a:p>
            <a:r>
              <a:rPr lang="en-US" sz="2800" b="1" dirty="0"/>
              <a:t>Module 1: User Management</a:t>
            </a:r>
            <a:br>
              <a:rPr lang="en-US" sz="2800" dirty="0"/>
            </a:br>
            <a:r>
              <a:rPr lang="en-US" sz="2800" dirty="0"/>
              <a:t>Handles registration, login, and profile management for job seekers and employers.</a:t>
            </a:r>
            <a:br>
              <a:rPr lang="en-US" sz="2800" dirty="0"/>
            </a:br>
            <a:r>
              <a:rPr lang="en-US" sz="2800" dirty="0"/>
              <a:t>Ensures secure authentication and role-based access control.</a:t>
            </a:r>
            <a:endParaRPr lang="en-IN" sz="2800" dirty="0"/>
          </a:p>
          <a:p>
            <a:endParaRPr lang="en-IN" sz="2800" dirty="0"/>
          </a:p>
          <a:p>
            <a:r>
              <a:rPr lang="en-US" sz="2800" b="1" dirty="0"/>
              <a:t>Module 2: Job Management</a:t>
            </a:r>
            <a:br>
              <a:rPr lang="en-US" sz="2800" dirty="0"/>
            </a:br>
            <a:r>
              <a:rPr lang="en-US" sz="2800" dirty="0"/>
              <a:t>Manages job posting, updating, and deletion by employers.</a:t>
            </a:r>
            <a:br>
              <a:rPr lang="en-US" sz="2800" dirty="0"/>
            </a:br>
            <a:r>
              <a:rPr lang="en-US" sz="2800" dirty="0"/>
              <a:t>Allows users to search and filter jobs based on different criteria</a:t>
            </a:r>
            <a:r>
              <a:rPr lang="en-US" sz="2800" dirty="0" smtClean="0"/>
              <a:t>.</a:t>
            </a:r>
            <a:endParaRPr lang="en-US" sz="2800" dirty="0" smtClean="0"/>
          </a:p>
          <a:p>
            <a:endParaRPr lang="en-US" sz="2800" dirty="0"/>
          </a:p>
          <a:p>
            <a:r>
              <a:rPr lang="en-US" sz="2800" b="1" dirty="0"/>
              <a:t>Module 3: Application Management</a:t>
            </a:r>
            <a:br>
              <a:rPr lang="en-US" sz="2800" dirty="0"/>
            </a:br>
            <a:r>
              <a:rPr lang="en-US" sz="2800" dirty="0"/>
              <a:t>Handles job applications submitted by users.</a:t>
            </a:r>
            <a:br>
              <a:rPr lang="en-US" sz="2800" dirty="0"/>
            </a:br>
            <a:r>
              <a:rPr lang="en-US" sz="2800" dirty="0"/>
              <a:t>Tracks application status such as applied, shortlisted, or rejected.</a:t>
            </a:r>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56972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1806580" y="2369175"/>
            <a:ext cx="15849600" cy="2246769"/>
          </a:xfrm>
          <a:prstGeom prst="rect">
            <a:avLst/>
          </a:prstGeom>
          <a:noFill/>
        </p:spPr>
        <p:txBody>
          <a:bodyPr wrap="square" rtlCol="0">
            <a:spAutoFit/>
          </a:bodyPr>
          <a:lstStyle/>
          <a:p>
            <a:endParaRPr lang="en-IN" sz="2800" b="1" dirty="0"/>
          </a:p>
          <a:p>
            <a:endParaRPr lang="en-IN" sz="2800" dirty="0"/>
          </a:p>
          <a:p>
            <a:endParaRPr lang="en-IN" sz="2800" dirty="0"/>
          </a:p>
          <a:p>
            <a:endParaRPr lang="en-IN" sz="2800" dirty="0"/>
          </a:p>
          <a:p>
            <a:endParaRPr lang="en-IN" sz="2800" dirty="0"/>
          </a:p>
        </p:txBody>
      </p:sp>
      <p:sp>
        <p:nvSpPr>
          <p:cNvPr id="2" name="Rectangle 1"/>
          <p:cNvSpPr>
            <a:spLocks noChangeArrowheads="1"/>
          </p:cNvSpPr>
          <p:nvPr/>
        </p:nvSpPr>
        <p:spPr bwMode="auto">
          <a:xfrm>
            <a:off x="2150242" y="2544025"/>
            <a:ext cx="14156557" cy="3966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76100" rIns="0" bIns="38088"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800" b="1" i="0" u="none" strike="noStrike" cap="none" normalizeH="0" baseline="0" dirty="0" smtClean="0">
                <a:ln>
                  <a:noFill/>
                </a:ln>
                <a:solidFill>
                  <a:srgbClr val="0D0D0D"/>
                </a:solidFill>
                <a:effectLst/>
                <a:latin typeface="Arial" panose="020B0604020202020204" pitchFamily="34" charset="0"/>
              </a:rPr>
              <a:t>Module 4: Additional Features</a:t>
            </a:r>
            <a:br>
              <a:rPr kumimoji="0" lang="en-US" altLang="en-US" sz="2800" b="0" i="0" u="none" strike="noStrike" cap="none" normalizeH="0" baseline="0" dirty="0" smtClean="0">
                <a:ln>
                  <a:noFill/>
                </a:ln>
                <a:solidFill>
                  <a:srgbClr val="0D0D0D"/>
                </a:solidFill>
                <a:effectLst/>
                <a:latin typeface="Arial" panose="020B0604020202020204" pitchFamily="34" charset="0"/>
              </a:rPr>
            </a:br>
            <a:r>
              <a:rPr kumimoji="0" lang="en-US" altLang="en-US" sz="2800" b="0" i="0" u="none" strike="noStrike" cap="none" normalizeH="0" baseline="0" dirty="0" smtClean="0">
                <a:ln>
                  <a:noFill/>
                </a:ln>
                <a:solidFill>
                  <a:srgbClr val="0D0D0D"/>
                </a:solidFill>
                <a:effectLst/>
                <a:latin typeface="Arial" panose="020B0604020202020204" pitchFamily="34" charset="0"/>
              </a:rPr>
              <a:t>Includes resume upload and notification features for users.</a:t>
            </a:r>
            <a:br>
              <a:rPr kumimoji="0" lang="en-US" altLang="en-US" sz="2800" b="0" i="0" u="none" strike="noStrike" cap="none" normalizeH="0" baseline="0" dirty="0" smtClean="0">
                <a:ln>
                  <a:noFill/>
                </a:ln>
                <a:solidFill>
                  <a:srgbClr val="0D0D0D"/>
                </a:solidFill>
                <a:effectLst/>
                <a:latin typeface="Arial" panose="020B0604020202020204" pitchFamily="34" charset="0"/>
              </a:rPr>
            </a:br>
            <a:r>
              <a:rPr kumimoji="0" lang="en-US" altLang="en-US" sz="2800" b="0" i="0" u="none" strike="noStrike" cap="none" normalizeH="0" baseline="0" dirty="0" smtClean="0">
                <a:ln>
                  <a:noFill/>
                </a:ln>
                <a:solidFill>
                  <a:srgbClr val="0D0D0D"/>
                </a:solidFill>
                <a:effectLst/>
                <a:latin typeface="Arial" panose="020B0604020202020204" pitchFamily="34" charset="0"/>
              </a:rPr>
              <a:t>Supports email alerts or updates for application status.</a:t>
            </a:r>
            <a:endParaRPr kumimoji="0" lang="en-US" altLang="en-US" sz="2800" b="0" i="0" u="none" strike="noStrike" cap="none" normalizeH="0" baseline="0" dirty="0" smtClean="0">
              <a:ln>
                <a:noFill/>
              </a:ln>
              <a:solidFill>
                <a:srgbClr val="0D0D0D"/>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en-US" sz="2800" dirty="0">
              <a:solidFill>
                <a:srgbClr val="0D0D0D"/>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800" b="0" i="0" u="none" strike="noStrike" cap="none" normalizeH="0" baseline="0" dirty="0" smtClean="0">
              <a:ln>
                <a:noFill/>
              </a:ln>
              <a:solidFill>
                <a:srgbClr val="0D0D0D"/>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800" b="1" i="0" u="none" strike="noStrike" cap="none" normalizeH="0" baseline="0" dirty="0" smtClean="0">
                <a:ln>
                  <a:noFill/>
                </a:ln>
                <a:solidFill>
                  <a:srgbClr val="0D0D0D"/>
                </a:solidFill>
                <a:effectLst/>
                <a:latin typeface="Arial" panose="020B0604020202020204" pitchFamily="34" charset="0"/>
              </a:rPr>
              <a:t>Module 5: Reporting &amp; Analytics</a:t>
            </a:r>
            <a:br>
              <a:rPr kumimoji="0" lang="en-US" altLang="en-US" sz="2800" b="0" i="0" u="none" strike="noStrike" cap="none" normalizeH="0" baseline="0" dirty="0" smtClean="0">
                <a:ln>
                  <a:noFill/>
                </a:ln>
                <a:solidFill>
                  <a:srgbClr val="0D0D0D"/>
                </a:solidFill>
                <a:effectLst/>
                <a:latin typeface="Arial" panose="020B0604020202020204" pitchFamily="34" charset="0"/>
              </a:rPr>
            </a:br>
            <a:r>
              <a:rPr kumimoji="0" lang="en-US" altLang="en-US" sz="2800" b="0" i="0" u="none" strike="noStrike" cap="none" normalizeH="0" baseline="0" dirty="0" smtClean="0">
                <a:ln>
                  <a:noFill/>
                </a:ln>
                <a:solidFill>
                  <a:srgbClr val="0D0D0D"/>
                </a:solidFill>
                <a:effectLst/>
                <a:latin typeface="Arial" panose="020B0604020202020204" pitchFamily="34" charset="0"/>
              </a:rPr>
              <a:t>Generates basic reports on job postings and applications.</a:t>
            </a:r>
            <a:br>
              <a:rPr kumimoji="0" lang="en-US" altLang="en-US" sz="2800" b="0" i="0" u="none" strike="noStrike" cap="none" normalizeH="0" baseline="0" dirty="0" smtClean="0">
                <a:ln>
                  <a:noFill/>
                </a:ln>
                <a:solidFill>
                  <a:srgbClr val="0D0D0D"/>
                </a:solidFill>
                <a:effectLst/>
                <a:latin typeface="Arial" panose="020B0604020202020204" pitchFamily="34" charset="0"/>
              </a:rPr>
            </a:br>
            <a:r>
              <a:rPr kumimoji="0" lang="en-US" altLang="en-US" sz="2800" b="0" i="0" u="none" strike="noStrike" cap="none" normalizeH="0" baseline="0" dirty="0" smtClean="0">
                <a:ln>
                  <a:noFill/>
                </a:ln>
                <a:solidFill>
                  <a:srgbClr val="0D0D0D"/>
                </a:solidFill>
                <a:effectLst/>
                <a:latin typeface="Arial" panose="020B0604020202020204" pitchFamily="34" charset="0"/>
              </a:rPr>
              <a:t>Helps in analyzing user activity and recruitment performance</a:t>
            </a:r>
            <a:r>
              <a:rPr kumimoji="0" lang="en-US" altLang="en-US" sz="1200" b="0" i="0" u="none" strike="noStrike" cap="none" normalizeH="0" baseline="0" dirty="0" smtClean="0">
                <a:ln>
                  <a:noFill/>
                </a:ln>
                <a:solidFill>
                  <a:srgbClr val="0D0D0D"/>
                </a:solidFill>
                <a:effectLst/>
                <a:latin typeface="Arial" panose="020B0604020202020204" pitchFamily="34" charset="0"/>
              </a:rPr>
              <a: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0" y="457200"/>
            <a:ext cx="7315200" cy="15875"/>
          </a:xfrm>
          <a:prstGeom prst="rect">
            <a:avLst/>
          </a:prstGeom>
          <a:solidFill>
            <a:srgbClr val="000000"/>
          </a:solidFill>
          <a:ln w="9525">
            <a:solidFill>
              <a:schemeClr val="tx1"/>
            </a:solidFill>
            <a:prstDash val="solid"/>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4" name="Rectangle 3"/>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2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smtClean="0">
                <a:ln>
                  <a:noFill/>
                </a:ln>
                <a:solidFill>
                  <a:schemeClr val="tx1"/>
                </a:solidFill>
                <a:effectLst/>
                <a:latin typeface="Arial" panose="020B0604020202020204" pitchFamily="34" charset="0"/>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37453" y="1722844"/>
            <a:ext cx="15082325" cy="5693866"/>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1"/>
          <a:stretch>
            <a:fillRect/>
          </a:stretch>
        </p:blipFill>
        <p:spPr>
          <a:xfrm>
            <a:off x="1995301" y="1722845"/>
            <a:ext cx="14423815" cy="552395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693866"/>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1"/>
          <a:stretch>
            <a:fillRect/>
          </a:stretch>
        </p:blipFill>
        <p:spPr>
          <a:xfrm>
            <a:off x="3429000" y="2015465"/>
            <a:ext cx="11811000" cy="563089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6306799"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64133" y="1600443"/>
            <a:ext cx="5257800"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r>
              <a:rPr lang="en-US" sz="2800" dirty="0"/>
              <a:t>Admin Login Page</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11441822" y="1697977"/>
            <a:ext cx="5257800"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r>
              <a:rPr lang="en-US" sz="2800" dirty="0"/>
              <a:t>User Login Page</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cxnSp>
        <p:nvCxnSpPr>
          <p:cNvPr id="5" name="Straight Connector 4"/>
          <p:cNvCxnSpPr/>
          <p:nvPr/>
        </p:nvCxnSpPr>
        <p:spPr>
          <a:xfrm>
            <a:off x="9448800" y="1697977"/>
            <a:ext cx="0" cy="7484123"/>
          </a:xfrm>
          <a:prstGeom prst="line">
            <a:avLst/>
          </a:prstGeom>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1"/>
          <a:stretch>
            <a:fillRect/>
          </a:stretch>
        </p:blipFill>
        <p:spPr>
          <a:xfrm>
            <a:off x="2197371" y="3543300"/>
            <a:ext cx="4355830" cy="4761351"/>
          </a:xfrm>
          <a:prstGeom prst="rect">
            <a:avLst/>
          </a:prstGeom>
        </p:spPr>
      </p:pic>
      <p:pic>
        <p:nvPicPr>
          <p:cNvPr id="4" name="Picture 3"/>
          <p:cNvPicPr>
            <a:picLocks noChangeAspect="1"/>
          </p:cNvPicPr>
          <p:nvPr/>
        </p:nvPicPr>
        <p:blipFill>
          <a:blip r:embed="rId2"/>
          <a:stretch>
            <a:fillRect/>
          </a:stretch>
        </p:blipFill>
        <p:spPr>
          <a:xfrm>
            <a:off x="11049076" y="3448768"/>
            <a:ext cx="4514060" cy="48049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57734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p:cNvPicPr>
            <a:picLocks noChangeAspect="1"/>
          </p:cNvPicPr>
          <p:nvPr/>
        </p:nvPicPr>
        <p:blipFill>
          <a:blip r:embed="rId1"/>
          <a:stretch>
            <a:fillRect/>
          </a:stretch>
        </p:blipFill>
        <p:spPr>
          <a:xfrm>
            <a:off x="2468986" y="2475170"/>
            <a:ext cx="13075814" cy="472572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p:cNvPicPr>
            <a:picLocks noChangeAspect="1"/>
          </p:cNvPicPr>
          <p:nvPr/>
        </p:nvPicPr>
        <p:blipFill>
          <a:blip r:embed="rId1"/>
          <a:stretch>
            <a:fillRect/>
          </a:stretch>
        </p:blipFill>
        <p:spPr>
          <a:xfrm>
            <a:off x="3048000" y="2681228"/>
            <a:ext cx="11430000" cy="507961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p:cNvPicPr>
            <a:picLocks noChangeAspect="1"/>
          </p:cNvPicPr>
          <p:nvPr/>
        </p:nvPicPr>
        <p:blipFill>
          <a:blip r:embed="rId1"/>
          <a:stretch>
            <a:fillRect/>
          </a:stretch>
        </p:blipFill>
        <p:spPr>
          <a:xfrm>
            <a:off x="3352800" y="2321919"/>
            <a:ext cx="11201400" cy="47244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8" name="Picture 37"/>
          <p:cNvPicPr>
            <a:picLocks noChangeAspect="1"/>
          </p:cNvPicPr>
          <p:nvPr/>
        </p:nvPicPr>
        <p:blipFill>
          <a:blip r:embed="rId1"/>
          <a:stretch>
            <a:fillRect/>
          </a:stretch>
        </p:blipFill>
        <p:spPr>
          <a:xfrm>
            <a:off x="6248400" y="2015465"/>
            <a:ext cx="5715000" cy="553784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p:cNvPicPr>
            <a:picLocks noChangeAspect="1"/>
          </p:cNvPicPr>
          <p:nvPr/>
        </p:nvPicPr>
        <p:blipFill>
          <a:blip r:embed="rId1"/>
          <a:stretch>
            <a:fillRect/>
          </a:stretch>
        </p:blipFill>
        <p:spPr>
          <a:xfrm>
            <a:off x="4495800" y="2254251"/>
            <a:ext cx="9296400" cy="405772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p:cNvPicPr>
            <a:picLocks noChangeAspect="1"/>
          </p:cNvPicPr>
          <p:nvPr/>
        </p:nvPicPr>
        <p:blipFill>
          <a:blip r:embed="rId1"/>
          <a:stretch>
            <a:fillRect/>
          </a:stretch>
        </p:blipFill>
        <p:spPr>
          <a:xfrm>
            <a:off x="4038601" y="2857500"/>
            <a:ext cx="10515600" cy="322334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2" name="TextBox 1"/>
          <p:cNvSpPr txBox="1"/>
          <p:nvPr/>
        </p:nvSpPr>
        <p:spPr>
          <a:xfrm>
            <a:off x="190500" y="290493"/>
            <a:ext cx="1612292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Rectangle 2"/>
          <p:cNvSpPr/>
          <p:nvPr/>
        </p:nvSpPr>
        <p:spPr>
          <a:xfrm>
            <a:off x="2558626" y="2698283"/>
            <a:ext cx="12376574" cy="2308324"/>
          </a:xfrm>
          <a:prstGeom prst="rect">
            <a:avLst/>
          </a:prstGeom>
        </p:spPr>
        <p:txBody>
          <a:bodyPr wrap="square">
            <a:spAutoFit/>
          </a:bodyPr>
          <a:lstStyle/>
          <a:p>
            <a:r>
              <a:rPr lang="en-US" sz="2400" b="1" dirty="0"/>
              <a:t>Advantages</a:t>
            </a:r>
            <a:endParaRPr lang="en-US" sz="2400" b="1" dirty="0"/>
          </a:p>
          <a:p>
            <a:r>
              <a:rPr lang="en-US" sz="2400" b="1" dirty="0"/>
              <a:t>Easy Job Access</a:t>
            </a:r>
            <a:br>
              <a:rPr lang="en-US" sz="2400" dirty="0"/>
            </a:br>
            <a:r>
              <a:rPr lang="en-US" sz="2400" dirty="0"/>
              <a:t>Users can quickly find and apply for jobs from anywhere without visiting companies physically. </a:t>
            </a:r>
            <a:endParaRPr lang="en-US" sz="2400" dirty="0"/>
          </a:p>
          <a:p>
            <a:r>
              <a:rPr lang="en-US" sz="2400" b="1" dirty="0"/>
              <a:t>Time Saving</a:t>
            </a:r>
            <a:br>
              <a:rPr lang="en-US" sz="2400" dirty="0"/>
            </a:br>
            <a:r>
              <a:rPr lang="en-US" sz="2400" dirty="0"/>
              <a:t>Reduces manual work for both admin and users by automating job posting and application processes. </a:t>
            </a:r>
            <a:endParaRPr lang="en-US" sz="2400" dirty="0"/>
          </a:p>
        </p:txBody>
      </p:sp>
      <p:sp>
        <p:nvSpPr>
          <p:cNvPr id="4" name="Rectangle 3"/>
          <p:cNvSpPr/>
          <p:nvPr/>
        </p:nvSpPr>
        <p:spPr>
          <a:xfrm>
            <a:off x="2558626" y="5488873"/>
            <a:ext cx="9144000" cy="2677656"/>
          </a:xfrm>
          <a:prstGeom prst="rect">
            <a:avLst/>
          </a:prstGeom>
        </p:spPr>
        <p:txBody>
          <a:bodyPr>
            <a:spAutoFit/>
          </a:bodyPr>
          <a:lstStyle/>
          <a:p>
            <a:pPr lvl="0" eaLnBrk="0" fontAlgn="base" hangingPunct="0">
              <a:spcBef>
                <a:spcPct val="0"/>
              </a:spcBef>
              <a:spcAft>
                <a:spcPct val="0"/>
              </a:spcAft>
            </a:pPr>
            <a:r>
              <a:rPr lang="en-US" altLang="en-US" sz="2400" b="1" dirty="0">
                <a:latin typeface="Arial" panose="020B0604020202020204" pitchFamily="34" charset="0"/>
              </a:rPr>
              <a:t>Limitations</a:t>
            </a:r>
            <a:endParaRPr lang="en-US" altLang="en-US" sz="2400" b="1" dirty="0">
              <a:latin typeface="Arial" panose="020B0604020202020204" pitchFamily="34" charset="0"/>
            </a:endParaRPr>
          </a:p>
          <a:p>
            <a:pPr lvl="0" eaLnBrk="0" fontAlgn="base" hangingPunct="0">
              <a:spcBef>
                <a:spcPct val="0"/>
              </a:spcBef>
              <a:spcAft>
                <a:spcPct val="0"/>
              </a:spcAft>
              <a:buFontTx/>
              <a:buChar char="•"/>
            </a:pPr>
            <a:r>
              <a:rPr lang="en-US" altLang="en-US" sz="2400" b="1" dirty="0">
                <a:latin typeface="Arial" panose="020B0604020202020204" pitchFamily="34" charset="0"/>
              </a:rPr>
              <a:t>Data Security Risks</a:t>
            </a:r>
            <a:br>
              <a:rPr lang="en-US" altLang="en-US" sz="2400" dirty="0">
                <a:latin typeface="Arial" panose="020B0604020202020204" pitchFamily="34" charset="0"/>
              </a:rPr>
            </a:br>
            <a:r>
              <a:rPr lang="en-US" altLang="en-US" sz="2400" dirty="0">
                <a:latin typeface="Arial" panose="020B0604020202020204" pitchFamily="34" charset="0"/>
              </a:rPr>
              <a:t>Sensitive user data (like personal details) must be protected from cyber threats</a:t>
            </a:r>
            <a:endParaRPr lang="en-US" altLang="en-US" sz="2400" dirty="0">
              <a:latin typeface="Arial" panose="020B0604020202020204" pitchFamily="34" charset="0"/>
            </a:endParaRPr>
          </a:p>
          <a:p>
            <a:pPr lvl="0" eaLnBrk="0" fontAlgn="base" hangingPunct="0">
              <a:spcBef>
                <a:spcPct val="0"/>
              </a:spcBef>
              <a:spcAft>
                <a:spcPct val="0"/>
              </a:spcAft>
              <a:buFontTx/>
              <a:buChar char="•"/>
            </a:pPr>
            <a:r>
              <a:rPr lang="en-US" sz="2400" b="1" dirty="0"/>
              <a:t>Data Security Risks</a:t>
            </a:r>
            <a:br>
              <a:rPr lang="en-US" sz="2400" dirty="0"/>
            </a:br>
            <a:r>
              <a:rPr lang="en-US" sz="2400" dirty="0"/>
              <a:t>Sensitive user data (like personal details) must be protected from cyber threats.</a:t>
            </a:r>
            <a:r>
              <a:rPr lang="en-US" altLang="en-US" sz="2400" dirty="0">
                <a:latin typeface="Arial" panose="020B0604020202020204" pitchFamily="34" charset="0"/>
              </a:rPr>
              <a:t> </a:t>
            </a:r>
            <a:endParaRPr lang="en-US" altLang="en-US" sz="2400" dirty="0">
              <a:latin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endPar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endParaRP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4985</Words>
  <Application>WPS Presentation</Application>
  <PresentationFormat>Custom</PresentationFormat>
  <Paragraphs>737</Paragraphs>
  <Slides>21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21</vt:i4>
      </vt:variant>
    </vt:vector>
  </HeadingPairs>
  <TitlesOfParts>
    <vt:vector size="33" baseType="lpstr">
      <vt:lpstr>Arial</vt:lpstr>
      <vt:lpstr>SimSun</vt:lpstr>
      <vt:lpstr>Wingdings</vt:lpstr>
      <vt:lpstr>Cambria</vt:lpstr>
      <vt:lpstr>Bookman Old Style</vt:lpstr>
      <vt:lpstr>Times New Roman</vt:lpstr>
      <vt:lpstr>Gotham</vt:lpstr>
      <vt:lpstr>Calibri</vt:lpstr>
      <vt:lpstr>Microsoft YaHei</vt:lpstr>
      <vt:lpstr>Arial Unicode MS</vt:lpstr>
      <vt:lpstr>Gotham Bold Italics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selvamani krishnamoorthy</dc:creator>
  <cp:lastModifiedBy>saisa</cp:lastModifiedBy>
  <cp:revision>20</cp:revision>
  <dcterms:created xsi:type="dcterms:W3CDTF">2006-08-16T00:00:00Z</dcterms:created>
  <dcterms:modified xsi:type="dcterms:W3CDTF">2026-05-06T05:04:49Z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B78DEE2DCAC74558AD54400D1899CEDE_12</vt:lpwstr>
  </property>
  <property fmtid="{D5CDD505-2E9C-101B-9397-08002B2CF9AE}" pid="3" name="KSOProductBuildVer">
    <vt:lpwstr>1033-12.1.0.25242</vt:lpwstr>
  </property>
</Properties>
</file>